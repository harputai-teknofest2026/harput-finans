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Merhaba, biz HarputAI takımıyız. Geliştirdiğimiz Harput Finans platformuyla katılım bankalarının dağınık finansman ve kampanya bilgilerini tek noktada anlaşılır, karşılaştırılabilir ve kaynaklı hale getiriyoruz.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Katılım bankalarının finansman ürünleri ve kampanyaları farklı web sitelerinde, birbirinden farklı metin yapılarıyla sunuluyor. Kullanıcıların bu bilgileri manuel olarak bulması ve karşılaştırması gerekiyor. Harput Finans ile bu verileri ortak bir yapıda topluyor, yapay zeka destekli olarak yapılandırıyor ve doğal dil üzerinden sorgulanabilir hale getiriyoruz.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Bilgi tabanımızı 10 katılım bankasının resmî web sitelerinden oluşturduk. Toplam 530 kaydımız bulunuyor; bunların 116sı finansman ürünü, 414ü kampanya. Bankaların web yapıları birbirinden farklı olduğu için her banka için uygun scraping ve veri işleme akışı geliştirdik ve tüm sonuçları ortak bir master veri yapısında birleştirdik.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Projenin önemli noktalarından biri dinamik bilgi çıkarımı yaklaşımımız. Qwen3-Coder-Next modeline finansal değeri doğrudan tahmin ettirmiyoruz. Model, verilen metne özel Python ve regex tabanlı çıkarım kodu üretiyor. Üretilen kod AST tabanlı güvenlik kontrolünden geçiriliyor ve izole ortamda çalıştırılıyor. Sonuç sabit dokuz alanlık yapılandırılmış çıktıya dönüştürülüyor. Kaynak metinde bulunmayan bilgiler ise tahmin edilmiyor.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Kullanıcı doğal dilde bir soru sorduğunda AI Agent niyeti belirliyor ve LangGraph üzerinden uygun finansman veya kampanya aracına yönlendiriyor. Burada kritik nokta, finansal karşılaştırmayı büyük dil modelinin yapmaması. Filtreleme, karşılaştırma ve kriter değerlendirmeleri deterministik araçlarda gerçekleştiriliyor. Model yalnızca bu güvenilir sonucu doğal dile dönüştürüyor ve ilgili kaynakları kullanıcıya sunuyor.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Harput Finansı özgün kılan tek bir bileşen değil, bu üç yaklaşımın birlikte kullanılmasıdır: program sentezi tabanlı bilgi çıkarımı, deterministik finansal araçlar ve kaynaklı doğal dil üretimi. Böylece yapay zekayı finansal karar vermek için değil, doğru bilgiyi çıkarmak ve kullanıcıya açıklamak için kullanıyoruz. Şimdi bu mimarinin kullanıcı tarafında nasıl çalıştığını hazırladığımız demo üzerinden göstermek istiyoruz.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mnt/data/template_media/image1.jp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685800" y="5074920"/>
            <a:ext cx="5074920" cy="960120"/>
          </a:xfrm>
          <a:prstGeom prst="roundRect">
            <a:avLst>
              <a:gd name="adj" fmla="val 7619"/>
            </a:avLst>
          </a:prstGeom>
          <a:solidFill>
            <a:srgbClr val="061622">
              <a:alpha val="92000"/>
            </a:srgbClr>
          </a:solidFill>
          <a:ln w="12700">
            <a:solidFill>
              <a:srgbClr val="FFFFFF">
                <a:alpha val="25000"/>
              </a:srgbClr>
            </a:solidFill>
            <a:prstDash val="solid"/>
          </a:ln>
        </p:spPr>
      </p:sp>
      <p:sp>
        <p:nvSpPr>
          <p:cNvPr id="4" name="Text 1"/>
          <p:cNvSpPr/>
          <p:nvPr/>
        </p:nvSpPr>
        <p:spPr>
          <a:xfrm>
            <a:off x="941832" y="5193792"/>
            <a:ext cx="3108960" cy="310896"/>
          </a:xfrm>
          <a:prstGeom prst="rect">
            <a:avLst/>
          </a:prstGeom>
          <a:noFill/>
          <a:ln/>
        </p:spPr>
        <p:txBody>
          <a:bodyPr wrap="square" lIns="0" tIns="0" rIns="0" bIns="0" rtlCol="0" anchor="ctr"/>
          <a:lstStyle/>
          <a:p>
            <a:pPr indent="0" marL="0">
              <a:buNone/>
            </a:pPr>
            <a:r>
              <a:rPr lang="en-US" sz="2300" b="1" dirty="0">
                <a:solidFill>
                  <a:srgbClr val="FFFFFF"/>
                </a:solidFill>
              </a:rPr>
              <a:t>HARPUT FİNANS</a:t>
            </a:r>
            <a:endParaRPr lang="en-US" sz="2300" dirty="0"/>
          </a:p>
        </p:txBody>
      </p:sp>
      <p:sp>
        <p:nvSpPr>
          <p:cNvPr id="5" name="Text 2"/>
          <p:cNvSpPr/>
          <p:nvPr/>
        </p:nvSpPr>
        <p:spPr>
          <a:xfrm>
            <a:off x="960120" y="5559552"/>
            <a:ext cx="4434840" cy="164592"/>
          </a:xfrm>
          <a:prstGeom prst="rect">
            <a:avLst/>
          </a:prstGeom>
          <a:noFill/>
          <a:ln/>
        </p:spPr>
        <p:txBody>
          <a:bodyPr wrap="square" lIns="0" tIns="0" rIns="0" bIns="0" rtlCol="0" anchor="ctr"/>
          <a:lstStyle/>
          <a:p>
            <a:pPr indent="0" marL="0">
              <a:buNone/>
            </a:pPr>
            <a:r>
              <a:rPr lang="en-US" sz="1050" dirty="0">
                <a:solidFill>
                  <a:srgbClr val="E9F2F8"/>
                </a:solidFill>
              </a:rPr>
              <a:t>Yapay Zeka Destekli Katılım Finans Platformu</a:t>
            </a:r>
            <a:endParaRPr lang="en-US" sz="1050" dirty="0"/>
          </a:p>
        </p:txBody>
      </p:sp>
      <p:sp>
        <p:nvSpPr>
          <p:cNvPr id="6" name="Shape 3"/>
          <p:cNvSpPr/>
          <p:nvPr/>
        </p:nvSpPr>
        <p:spPr>
          <a:xfrm>
            <a:off x="5989320" y="5001768"/>
            <a:ext cx="5440680" cy="1078992"/>
          </a:xfrm>
          <a:prstGeom prst="roundRect">
            <a:avLst>
              <a:gd name="adj" fmla="val 6780"/>
            </a:avLst>
          </a:prstGeom>
          <a:solidFill>
            <a:srgbClr val="061622">
              <a:alpha val="92000"/>
            </a:srgbClr>
          </a:solidFill>
          <a:ln w="12700">
            <a:solidFill>
              <a:srgbClr val="FFFFFF">
                <a:alpha val="25000"/>
              </a:srgbClr>
            </a:solidFill>
            <a:prstDash val="solid"/>
          </a:ln>
        </p:spPr>
      </p:sp>
      <p:sp>
        <p:nvSpPr>
          <p:cNvPr id="7" name="Text 4"/>
          <p:cNvSpPr/>
          <p:nvPr/>
        </p:nvSpPr>
        <p:spPr>
          <a:xfrm>
            <a:off x="6263640" y="5074920"/>
            <a:ext cx="2286000" cy="256032"/>
          </a:xfrm>
          <a:prstGeom prst="rect">
            <a:avLst/>
          </a:prstGeom>
          <a:noFill/>
          <a:ln/>
        </p:spPr>
        <p:txBody>
          <a:bodyPr wrap="square" lIns="0" tIns="0" rIns="0" bIns="0" rtlCol="0" anchor="ctr"/>
          <a:lstStyle/>
          <a:p>
            <a:pPr indent="0" marL="0">
              <a:buNone/>
            </a:pPr>
            <a:r>
              <a:rPr lang="en-US" sz="1600" b="1" dirty="0">
                <a:solidFill>
                  <a:srgbClr val="FFFFFF"/>
                </a:solidFill>
              </a:rPr>
              <a:t>Takım: HarputAI</a:t>
            </a:r>
            <a:endParaRPr lang="en-US" sz="1600" dirty="0"/>
          </a:p>
        </p:txBody>
      </p:sp>
      <p:sp>
        <p:nvSpPr>
          <p:cNvPr id="8" name="Text 5"/>
          <p:cNvSpPr/>
          <p:nvPr/>
        </p:nvSpPr>
        <p:spPr>
          <a:xfrm>
            <a:off x="6272784" y="5449824"/>
            <a:ext cx="4709160" cy="182880"/>
          </a:xfrm>
          <a:prstGeom prst="rect">
            <a:avLst/>
          </a:prstGeom>
          <a:noFill/>
          <a:ln/>
        </p:spPr>
        <p:txBody>
          <a:bodyPr wrap="square" lIns="0" tIns="0" rIns="0" bIns="0" rtlCol="0" anchor="ctr">
            <a:normAutofit/>
          </a:bodyPr>
          <a:lstStyle/>
          <a:p>
            <a:pPr indent="0" marL="0">
              <a:buNone/>
            </a:pPr>
            <a:r>
              <a:rPr lang="en-US" sz="970" dirty="0">
                <a:solidFill>
                  <a:srgbClr val="EAF2F8"/>
                </a:solidFill>
              </a:rPr>
              <a:t>Takım Üyeleri  •  [Ad Soyad]  •  [Ad Soyad]  •  [Ad Soyad]</a:t>
            </a:r>
            <a:endParaRPr lang="en-US" sz="970" dirty="0"/>
          </a:p>
        </p:txBody>
      </p:sp>
      <p:sp>
        <p:nvSpPr>
          <p:cNvPr id="9" name="Shape 6"/>
          <p:cNvSpPr/>
          <p:nvPr/>
        </p:nvSpPr>
        <p:spPr>
          <a:xfrm>
            <a:off x="6272784" y="5751576"/>
            <a:ext cx="685800" cy="329184"/>
          </a:xfrm>
          <a:prstGeom prst="roundRect">
            <a:avLst>
              <a:gd name="adj" fmla="val 19444"/>
            </a:avLst>
          </a:prstGeom>
          <a:solidFill>
            <a:srgbClr val="FFFFFF"/>
          </a:solidFill>
          <a:ln w="12700">
            <a:solidFill>
              <a:srgbClr val="FFFFFF"/>
            </a:solidFill>
            <a:prstDash val="solid"/>
          </a:ln>
        </p:spPr>
      </p:sp>
      <p:sp>
        <p:nvSpPr>
          <p:cNvPr id="10" name="Text 7"/>
          <p:cNvSpPr/>
          <p:nvPr/>
        </p:nvSpPr>
        <p:spPr>
          <a:xfrm>
            <a:off x="6272784" y="5838444"/>
            <a:ext cx="685800" cy="109728"/>
          </a:xfrm>
          <a:prstGeom prst="rect">
            <a:avLst/>
          </a:prstGeom>
          <a:noFill/>
          <a:ln/>
        </p:spPr>
        <p:txBody>
          <a:bodyPr wrap="square" lIns="0" tIns="0" rIns="0" bIns="0" rtlCol="0" anchor="ctr"/>
          <a:lstStyle/>
          <a:p>
            <a:pPr algn="ctr" indent="0" marL="0">
              <a:buNone/>
            </a:pPr>
            <a:r>
              <a:rPr lang="en-US" sz="920" b="1" dirty="0">
                <a:solidFill>
                  <a:srgbClr val="0C3046"/>
                </a:solidFill>
              </a:rPr>
              <a:t>NLP</a:t>
            </a:r>
            <a:endParaRPr lang="en-US" sz="920" dirty="0"/>
          </a:p>
        </p:txBody>
      </p:sp>
      <p:sp>
        <p:nvSpPr>
          <p:cNvPr id="11" name="Shape 8"/>
          <p:cNvSpPr/>
          <p:nvPr/>
        </p:nvSpPr>
        <p:spPr>
          <a:xfrm>
            <a:off x="7086600" y="5751576"/>
            <a:ext cx="1508760" cy="329184"/>
          </a:xfrm>
          <a:prstGeom prst="roundRect">
            <a:avLst>
              <a:gd name="adj" fmla="val 19444"/>
            </a:avLst>
          </a:prstGeom>
          <a:solidFill>
            <a:srgbClr val="FFFFFF"/>
          </a:solidFill>
          <a:ln w="12700">
            <a:solidFill>
              <a:srgbClr val="FFFFFF"/>
            </a:solidFill>
            <a:prstDash val="solid"/>
          </a:ln>
        </p:spPr>
      </p:sp>
      <p:sp>
        <p:nvSpPr>
          <p:cNvPr id="12" name="Text 9"/>
          <p:cNvSpPr/>
          <p:nvPr/>
        </p:nvSpPr>
        <p:spPr>
          <a:xfrm>
            <a:off x="7086600" y="5838444"/>
            <a:ext cx="1508760" cy="109728"/>
          </a:xfrm>
          <a:prstGeom prst="rect">
            <a:avLst/>
          </a:prstGeom>
          <a:noFill/>
          <a:ln/>
        </p:spPr>
        <p:txBody>
          <a:bodyPr wrap="square" lIns="0" tIns="0" rIns="0" bIns="0" rtlCol="0" anchor="ctr"/>
          <a:lstStyle/>
          <a:p>
            <a:pPr algn="ctr" indent="0" marL="0">
              <a:buNone/>
            </a:pPr>
            <a:r>
              <a:rPr lang="en-US" sz="920" b="1" dirty="0">
                <a:solidFill>
                  <a:srgbClr val="0C3046"/>
                </a:solidFill>
              </a:rPr>
              <a:t>Yapay Zeka Ajanı</a:t>
            </a:r>
            <a:endParaRPr lang="en-US" sz="920" dirty="0"/>
          </a:p>
        </p:txBody>
      </p:sp>
      <p:sp>
        <p:nvSpPr>
          <p:cNvPr id="13" name="Shape 10"/>
          <p:cNvSpPr/>
          <p:nvPr/>
        </p:nvSpPr>
        <p:spPr>
          <a:xfrm>
            <a:off x="8732520" y="5751576"/>
            <a:ext cx="2011680" cy="329184"/>
          </a:xfrm>
          <a:prstGeom prst="roundRect">
            <a:avLst>
              <a:gd name="adj" fmla="val 19444"/>
            </a:avLst>
          </a:prstGeom>
          <a:solidFill>
            <a:srgbClr val="FFFFFF"/>
          </a:solidFill>
          <a:ln w="12700">
            <a:solidFill>
              <a:srgbClr val="FFFFFF"/>
            </a:solidFill>
            <a:prstDash val="solid"/>
          </a:ln>
        </p:spPr>
      </p:sp>
      <p:sp>
        <p:nvSpPr>
          <p:cNvPr id="14" name="Text 11"/>
          <p:cNvSpPr/>
          <p:nvPr/>
        </p:nvSpPr>
        <p:spPr>
          <a:xfrm>
            <a:off x="8732520" y="5838444"/>
            <a:ext cx="2011680" cy="109728"/>
          </a:xfrm>
          <a:prstGeom prst="rect">
            <a:avLst/>
          </a:prstGeom>
          <a:noFill/>
          <a:ln/>
        </p:spPr>
        <p:txBody>
          <a:bodyPr wrap="square" lIns="0" tIns="0" rIns="0" bIns="0" rtlCol="0" anchor="ctr"/>
          <a:lstStyle/>
          <a:p>
            <a:pPr algn="ctr" indent="0" marL="0">
              <a:buNone/>
            </a:pPr>
            <a:r>
              <a:rPr lang="en-US" sz="920" b="1" dirty="0">
                <a:solidFill>
                  <a:srgbClr val="0C3046"/>
                </a:solidFill>
              </a:rPr>
              <a:t>Finansal Bilgi Çıkarımı</a:t>
            </a:r>
            <a:endParaRPr lang="en-US" sz="92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mnt/data/template_media/image2.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658368" y="512064"/>
            <a:ext cx="10881360" cy="347472"/>
          </a:xfrm>
          <a:prstGeom prst="rect">
            <a:avLst/>
          </a:prstGeom>
          <a:noFill/>
          <a:ln/>
        </p:spPr>
        <p:txBody>
          <a:bodyPr wrap="square" lIns="0" tIns="0" rIns="0" bIns="0" rtlCol="0" anchor="ctr"/>
          <a:lstStyle/>
          <a:p>
            <a:pPr indent="0" marL="0">
              <a:buNone/>
            </a:pPr>
            <a:r>
              <a:rPr lang="en-US" sz="2600" b="1" dirty="0">
                <a:solidFill>
                  <a:srgbClr val="0C3046"/>
                </a:solidFill>
                <a:latin typeface="Arial" pitchFamily="34" charset="0"/>
                <a:ea typeface="Arial" pitchFamily="34" charset="-122"/>
                <a:cs typeface="Arial" pitchFamily="34" charset="-120"/>
              </a:rPr>
              <a:t>Problem ve Projenin Amacı</a:t>
            </a:r>
            <a:endParaRPr lang="en-US" sz="2600" dirty="0"/>
          </a:p>
        </p:txBody>
      </p:sp>
      <p:sp>
        <p:nvSpPr>
          <p:cNvPr id="4" name="Text 1"/>
          <p:cNvSpPr/>
          <p:nvPr/>
        </p:nvSpPr>
        <p:spPr>
          <a:xfrm>
            <a:off x="676656" y="914400"/>
            <a:ext cx="10515600" cy="256032"/>
          </a:xfrm>
          <a:prstGeom prst="rect">
            <a:avLst/>
          </a:prstGeom>
          <a:noFill/>
          <a:ln/>
        </p:spPr>
        <p:txBody>
          <a:bodyPr wrap="square" lIns="0" tIns="0" rIns="0" bIns="0" rtlCol="0" anchor="ctr"/>
          <a:lstStyle/>
          <a:p>
            <a:pPr indent="0" marL="0">
              <a:buNone/>
            </a:pPr>
            <a:r>
              <a:rPr lang="en-US" sz="1250" dirty="0">
                <a:solidFill>
                  <a:srgbClr val="53606B"/>
                </a:solidFill>
                <a:latin typeface="Arial" pitchFamily="34" charset="0"/>
                <a:ea typeface="Arial" pitchFamily="34" charset="-122"/>
                <a:cs typeface="Arial" pitchFamily="34" charset="-120"/>
              </a:rPr>
              <a:t>Dağınık finansal bilgiyi anlaşılır, sorgulanabilir bilgiye dönüştürme yaklaşımı</a:t>
            </a:r>
            <a:endParaRPr lang="en-US" sz="1250" dirty="0"/>
          </a:p>
        </p:txBody>
      </p:sp>
      <p:sp>
        <p:nvSpPr>
          <p:cNvPr id="5" name="Shape 2"/>
          <p:cNvSpPr/>
          <p:nvPr/>
        </p:nvSpPr>
        <p:spPr>
          <a:xfrm>
            <a:off x="749808" y="1261872"/>
            <a:ext cx="5257800" cy="3977640"/>
          </a:xfrm>
          <a:prstGeom prst="roundRect">
            <a:avLst>
              <a:gd name="adj" fmla="val 2299"/>
            </a:avLst>
          </a:prstGeom>
          <a:solidFill>
            <a:srgbClr val="F4F7FA"/>
          </a:solidFill>
          <a:ln w="12700">
            <a:solidFill>
              <a:srgbClr val="D5DCE3">
                <a:alpha val="85000"/>
              </a:srgbClr>
            </a:solidFill>
            <a:prstDash val="solid"/>
          </a:ln>
        </p:spPr>
      </p:sp>
      <p:sp>
        <p:nvSpPr>
          <p:cNvPr id="6" name="Shape 3"/>
          <p:cNvSpPr/>
          <p:nvPr/>
        </p:nvSpPr>
        <p:spPr>
          <a:xfrm>
            <a:off x="914400" y="1426464"/>
            <a:ext cx="310896" cy="310896"/>
          </a:xfrm>
          <a:prstGeom prst="ellipse">
            <a:avLst/>
          </a:prstGeom>
          <a:solidFill>
            <a:srgbClr val="C81E1E"/>
          </a:solidFill>
          <a:ln w="12700">
            <a:solidFill>
              <a:srgbClr val="C81E1E"/>
            </a:solidFill>
            <a:prstDash val="solid"/>
          </a:ln>
        </p:spPr>
      </p:sp>
      <p:sp>
        <p:nvSpPr>
          <p:cNvPr id="7" name="Text 4"/>
          <p:cNvSpPr/>
          <p:nvPr/>
        </p:nvSpPr>
        <p:spPr>
          <a:xfrm>
            <a:off x="914400" y="1485900"/>
            <a:ext cx="310896" cy="109728"/>
          </a:xfrm>
          <a:prstGeom prst="rect">
            <a:avLst/>
          </a:prstGeom>
          <a:noFill/>
          <a:ln/>
        </p:spPr>
        <p:txBody>
          <a:bodyPr wrap="square" lIns="0" tIns="0" rIns="0" bIns="0" rtlCol="0" anchor="ctr"/>
          <a:lstStyle/>
          <a:p>
            <a:pPr algn="ctr" indent="0" marL="0">
              <a:buNone/>
            </a:pPr>
            <a:r>
              <a:rPr lang="en-US" sz="1100" b="1" dirty="0">
                <a:solidFill>
                  <a:srgbClr val="FFFFFF"/>
                </a:solidFill>
              </a:rPr>
              <a:t>!</a:t>
            </a:r>
            <a:endParaRPr lang="en-US" sz="1100" dirty="0"/>
          </a:p>
        </p:txBody>
      </p:sp>
      <p:sp>
        <p:nvSpPr>
          <p:cNvPr id="8" name="Text 5"/>
          <p:cNvSpPr/>
          <p:nvPr/>
        </p:nvSpPr>
        <p:spPr>
          <a:xfrm>
            <a:off x="1325880" y="1435608"/>
            <a:ext cx="4498848" cy="228600"/>
          </a:xfrm>
          <a:prstGeom prst="rect">
            <a:avLst/>
          </a:prstGeom>
          <a:noFill/>
          <a:ln/>
        </p:spPr>
        <p:txBody>
          <a:bodyPr wrap="square" lIns="0" tIns="0" rIns="0" bIns="0" rtlCol="0" anchor="ctr">
            <a:normAutofit/>
          </a:bodyPr>
          <a:lstStyle/>
          <a:p>
            <a:pPr indent="0" marL="0">
              <a:buNone/>
            </a:pPr>
            <a:r>
              <a:rPr lang="en-US" sz="1450" b="1" dirty="0">
                <a:solidFill>
                  <a:srgbClr val="C81E1E"/>
                </a:solidFill>
              </a:rPr>
              <a:t>PROBLEM</a:t>
            </a:r>
            <a:endParaRPr lang="en-US" sz="1450" dirty="0"/>
          </a:p>
        </p:txBody>
      </p:sp>
      <p:sp>
        <p:nvSpPr>
          <p:cNvPr id="9" name="Text 6"/>
          <p:cNvSpPr/>
          <p:nvPr/>
        </p:nvSpPr>
        <p:spPr>
          <a:xfrm>
            <a:off x="978408" y="1792224"/>
            <a:ext cx="4800600" cy="3337560"/>
          </a:xfrm>
          <a:prstGeom prst="rect">
            <a:avLst/>
          </a:prstGeom>
          <a:noFill/>
          <a:ln/>
        </p:spPr>
        <p:txBody>
          <a:bodyPr wrap="square" lIns="254" tIns="254" rIns="254" bIns="254" rtlCol="0" anchor="t">
            <a:normAutofit/>
          </a:bodyPr>
          <a:lstStyle/>
          <a:p>
            <a:pPr indent="0" marL="0">
              <a:buNone/>
            </a:pPr>
            <a:r>
              <a:rPr lang="en-US" sz="1050" dirty="0">
                <a:solidFill>
                  <a:srgbClr val="17212B"/>
                </a:solidFill>
              </a:rPr>
              <a:t>• Dağınık veri: Ürün ve kampanyalar farklı web sitelerinde ve farklı metin yapılarında sunuluyor.</a:t>
            </a:r>
            <a:endParaRPr lang="en-US" sz="1050" dirty="0"/>
          </a:p>
          <a:p>
            <a:pPr indent="0" marL="0">
              <a:buNone/>
            </a:pPr>
            <a:endParaRPr lang="en-US" sz="1050" dirty="0"/>
          </a:p>
          <a:p>
            <a:pPr indent="0" marL="0">
              <a:buNone/>
            </a:pPr>
            <a:r>
              <a:rPr lang="en-US" sz="1050" dirty="0">
                <a:solidFill>
                  <a:srgbClr val="17212B"/>
                </a:solidFill>
              </a:rPr>
              <a:t>• Zor karşılaştırma: Kullanıcı bankaları tek tek incelemek zorunda kalıyor.</a:t>
            </a:r>
            <a:endParaRPr lang="en-US" sz="1050" dirty="0"/>
          </a:p>
          <a:p>
            <a:pPr indent="0" marL="0">
              <a:buNone/>
            </a:pPr>
            <a:endParaRPr lang="en-US" sz="1050" dirty="0"/>
          </a:p>
          <a:p>
            <a:pPr indent="0" marL="0">
              <a:buNone/>
            </a:pPr>
            <a:r>
              <a:rPr lang="en-US" sz="1050" dirty="0">
                <a:solidFill>
                  <a:srgbClr val="17212B"/>
                </a:solidFill>
              </a:rPr>
              <a:t>• Ortak yapı yok: Oran, vade, tutar ve koşullar tek formatta görülemiyor.</a:t>
            </a:r>
            <a:endParaRPr lang="en-US" sz="1050" dirty="0"/>
          </a:p>
        </p:txBody>
      </p:sp>
      <p:sp>
        <p:nvSpPr>
          <p:cNvPr id="10" name="Shape 7"/>
          <p:cNvSpPr/>
          <p:nvPr/>
        </p:nvSpPr>
        <p:spPr>
          <a:xfrm>
            <a:off x="6199632" y="1261872"/>
            <a:ext cx="5257800" cy="3977640"/>
          </a:xfrm>
          <a:prstGeom prst="roundRect">
            <a:avLst>
              <a:gd name="adj" fmla="val 2299"/>
            </a:avLst>
          </a:prstGeom>
          <a:solidFill>
            <a:srgbClr val="F6F4ED"/>
          </a:solidFill>
          <a:ln w="12700">
            <a:solidFill>
              <a:srgbClr val="D5DCE3">
                <a:alpha val="85000"/>
              </a:srgbClr>
            </a:solidFill>
            <a:prstDash val="solid"/>
          </a:ln>
        </p:spPr>
      </p:sp>
      <p:sp>
        <p:nvSpPr>
          <p:cNvPr id="11" name="Shape 8"/>
          <p:cNvSpPr/>
          <p:nvPr/>
        </p:nvSpPr>
        <p:spPr>
          <a:xfrm>
            <a:off x="6364224" y="1426464"/>
            <a:ext cx="310896" cy="310896"/>
          </a:xfrm>
          <a:prstGeom prst="ellipse">
            <a:avLst/>
          </a:prstGeom>
          <a:solidFill>
            <a:srgbClr val="B47A1F"/>
          </a:solidFill>
          <a:ln w="12700">
            <a:solidFill>
              <a:srgbClr val="B47A1F"/>
            </a:solidFill>
            <a:prstDash val="solid"/>
          </a:ln>
        </p:spPr>
      </p:sp>
      <p:sp>
        <p:nvSpPr>
          <p:cNvPr id="12" name="Text 9"/>
          <p:cNvSpPr/>
          <p:nvPr/>
        </p:nvSpPr>
        <p:spPr>
          <a:xfrm>
            <a:off x="6364224" y="1485900"/>
            <a:ext cx="310896" cy="109728"/>
          </a:xfrm>
          <a:prstGeom prst="rect">
            <a:avLst/>
          </a:prstGeom>
          <a:noFill/>
          <a:ln/>
        </p:spPr>
        <p:txBody>
          <a:bodyPr wrap="square" lIns="0" tIns="0" rIns="0" bIns="0" rtlCol="0" anchor="ctr"/>
          <a:lstStyle/>
          <a:p>
            <a:pPr algn="ctr" indent="0" marL="0">
              <a:buNone/>
            </a:pPr>
            <a:r>
              <a:rPr lang="en-US" sz="1100" b="1" dirty="0">
                <a:solidFill>
                  <a:srgbClr val="FFFFFF"/>
                </a:solidFill>
              </a:rPr>
              <a:t>✓</a:t>
            </a:r>
            <a:endParaRPr lang="en-US" sz="1100" dirty="0"/>
          </a:p>
        </p:txBody>
      </p:sp>
      <p:sp>
        <p:nvSpPr>
          <p:cNvPr id="13" name="Text 10"/>
          <p:cNvSpPr/>
          <p:nvPr/>
        </p:nvSpPr>
        <p:spPr>
          <a:xfrm>
            <a:off x="6775704" y="1435608"/>
            <a:ext cx="4498848" cy="228600"/>
          </a:xfrm>
          <a:prstGeom prst="rect">
            <a:avLst/>
          </a:prstGeom>
          <a:noFill/>
          <a:ln/>
        </p:spPr>
        <p:txBody>
          <a:bodyPr wrap="square" lIns="0" tIns="0" rIns="0" bIns="0" rtlCol="0" anchor="ctr">
            <a:normAutofit/>
          </a:bodyPr>
          <a:lstStyle/>
          <a:p>
            <a:pPr indent="0" marL="0">
              <a:buNone/>
            </a:pPr>
            <a:r>
              <a:rPr lang="en-US" sz="1450" b="1" dirty="0">
                <a:solidFill>
                  <a:srgbClr val="B47A1F"/>
                </a:solidFill>
              </a:rPr>
              <a:t>PROJENİN AMACI</a:t>
            </a:r>
            <a:endParaRPr lang="en-US" sz="1450" dirty="0"/>
          </a:p>
        </p:txBody>
      </p:sp>
      <p:sp>
        <p:nvSpPr>
          <p:cNvPr id="14" name="Text 11"/>
          <p:cNvSpPr/>
          <p:nvPr/>
        </p:nvSpPr>
        <p:spPr>
          <a:xfrm>
            <a:off x="6428232" y="1792224"/>
            <a:ext cx="4800600" cy="3337560"/>
          </a:xfrm>
          <a:prstGeom prst="rect">
            <a:avLst/>
          </a:prstGeom>
          <a:noFill/>
          <a:ln/>
        </p:spPr>
        <p:txBody>
          <a:bodyPr wrap="square" lIns="254" tIns="254" rIns="254" bIns="254" rtlCol="0" anchor="t">
            <a:normAutofit/>
          </a:bodyPr>
          <a:lstStyle/>
          <a:p>
            <a:pPr indent="0" marL="0">
              <a:buNone/>
            </a:pPr>
            <a:r>
              <a:rPr lang="en-US" sz="1050" dirty="0">
                <a:solidFill>
                  <a:srgbClr val="17212B"/>
                </a:solidFill>
              </a:rPr>
              <a:t>• Tek platform: Katılım bankalarının verilerini ortak yapıda toplamak.</a:t>
            </a:r>
            <a:endParaRPr lang="en-US" sz="1050" dirty="0"/>
          </a:p>
          <a:p>
            <a:pPr indent="0" marL="0">
              <a:buNone/>
            </a:pPr>
            <a:endParaRPr lang="en-US" sz="1050" dirty="0"/>
          </a:p>
          <a:p>
            <a:pPr indent="0" marL="0">
              <a:buNone/>
            </a:pPr>
            <a:r>
              <a:rPr lang="en-US" sz="1050" dirty="0">
                <a:solidFill>
                  <a:srgbClr val="17212B"/>
                </a:solidFill>
              </a:rPr>
              <a:t>• AI destekli analiz: Serbest finansal metinleri otomatik yapılandırmak.</a:t>
            </a:r>
            <a:endParaRPr lang="en-US" sz="1050" dirty="0"/>
          </a:p>
          <a:p>
            <a:pPr indent="0" marL="0">
              <a:buNone/>
            </a:pPr>
            <a:endParaRPr lang="en-US" sz="1050" dirty="0"/>
          </a:p>
          <a:p>
            <a:pPr indent="0" marL="0">
              <a:buNone/>
            </a:pPr>
            <a:r>
              <a:rPr lang="en-US" sz="1050" dirty="0">
                <a:solidFill>
                  <a:srgbClr val="17212B"/>
                </a:solidFill>
              </a:rPr>
              <a:t>• Kaynaklı karşılaştırma: Doğal dilde sorgu ile ürünleri ve kampanyaları karşılaştırmak.</a:t>
            </a:r>
            <a:endParaRPr lang="en-US" sz="1050" dirty="0"/>
          </a:p>
        </p:txBody>
      </p:sp>
      <p:sp>
        <p:nvSpPr>
          <p:cNvPr id="15" name="Shape 12"/>
          <p:cNvSpPr/>
          <p:nvPr/>
        </p:nvSpPr>
        <p:spPr>
          <a:xfrm>
            <a:off x="758952" y="5779008"/>
            <a:ext cx="10698480" cy="429768"/>
          </a:xfrm>
          <a:prstGeom prst="roundRect">
            <a:avLst>
              <a:gd name="adj" fmla="val 17021"/>
            </a:avLst>
          </a:prstGeom>
          <a:solidFill>
            <a:srgbClr val="FFF4DC"/>
          </a:solidFill>
          <a:ln w="12700">
            <a:solidFill>
              <a:srgbClr val="B47A1F">
                <a:alpha val="65000"/>
              </a:srgbClr>
            </a:solidFill>
            <a:prstDash val="solid"/>
          </a:ln>
        </p:spPr>
      </p:sp>
      <p:sp>
        <p:nvSpPr>
          <p:cNvPr id="16" name="Text 13"/>
          <p:cNvSpPr/>
          <p:nvPr/>
        </p:nvSpPr>
        <p:spPr>
          <a:xfrm>
            <a:off x="932688" y="5916168"/>
            <a:ext cx="10332720" cy="109728"/>
          </a:xfrm>
          <a:prstGeom prst="rect">
            <a:avLst/>
          </a:prstGeom>
          <a:noFill/>
          <a:ln/>
        </p:spPr>
        <p:txBody>
          <a:bodyPr wrap="square" lIns="0" tIns="0" rIns="0" bIns="0" rtlCol="0" anchor="ctr">
            <a:normAutofit/>
          </a:bodyPr>
          <a:lstStyle/>
          <a:p>
            <a:pPr algn="ctr" indent="0" marL="0">
              <a:buNone/>
            </a:pPr>
            <a:r>
              <a:rPr lang="en-US" sz="1250" b="1" i="1" dirty="0">
                <a:solidFill>
                  <a:srgbClr val="B47A1F"/>
                </a:solidFill>
              </a:rPr>
              <a:t>Dağınık finansal bilgiyi, anlaşılır ve sorgulanabilir bilgiye dönüştürüyoruz.</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mnt/data/template_media/image2.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658368" y="512064"/>
            <a:ext cx="10881360" cy="347472"/>
          </a:xfrm>
          <a:prstGeom prst="rect">
            <a:avLst/>
          </a:prstGeom>
          <a:noFill/>
          <a:ln/>
        </p:spPr>
        <p:txBody>
          <a:bodyPr wrap="square" lIns="0" tIns="0" rIns="0" bIns="0" rtlCol="0" anchor="ctr"/>
          <a:lstStyle/>
          <a:p>
            <a:pPr indent="0" marL="0">
              <a:buNone/>
            </a:pPr>
            <a:r>
              <a:rPr lang="en-US" sz="2600" b="1" dirty="0">
                <a:solidFill>
                  <a:srgbClr val="0C3046"/>
                </a:solidFill>
                <a:latin typeface="Arial" pitchFamily="34" charset="0"/>
                <a:ea typeface="Arial" pitchFamily="34" charset="-122"/>
                <a:cs typeface="Arial" pitchFamily="34" charset="-120"/>
              </a:rPr>
              <a:t>Veri Seti ve Veri Toplama</a:t>
            </a:r>
            <a:endParaRPr lang="en-US" sz="2600" dirty="0"/>
          </a:p>
        </p:txBody>
      </p:sp>
      <p:sp>
        <p:nvSpPr>
          <p:cNvPr id="4" name="Text 1"/>
          <p:cNvSpPr/>
          <p:nvPr/>
        </p:nvSpPr>
        <p:spPr>
          <a:xfrm>
            <a:off x="676656" y="914400"/>
            <a:ext cx="10515600" cy="256032"/>
          </a:xfrm>
          <a:prstGeom prst="rect">
            <a:avLst/>
          </a:prstGeom>
          <a:noFill/>
          <a:ln/>
        </p:spPr>
        <p:txBody>
          <a:bodyPr wrap="square" lIns="0" tIns="0" rIns="0" bIns="0" rtlCol="0" anchor="ctr"/>
          <a:lstStyle/>
          <a:p>
            <a:pPr indent="0" marL="0">
              <a:buNone/>
            </a:pPr>
            <a:r>
              <a:rPr lang="en-US" sz="1250" dirty="0">
                <a:solidFill>
                  <a:srgbClr val="53606B"/>
                </a:solidFill>
                <a:latin typeface="Arial" pitchFamily="34" charset="0"/>
                <a:ea typeface="Arial" pitchFamily="34" charset="-122"/>
                <a:cs typeface="Arial" pitchFamily="34" charset="-120"/>
              </a:rPr>
              <a:t>10 katılım bankasından elde edilen finansman ve kampanya kayıtları</a:t>
            </a:r>
            <a:endParaRPr lang="en-US" sz="1250" dirty="0"/>
          </a:p>
        </p:txBody>
      </p:sp>
      <p:sp>
        <p:nvSpPr>
          <p:cNvPr id="5" name="Text 2"/>
          <p:cNvSpPr/>
          <p:nvPr/>
        </p:nvSpPr>
        <p:spPr>
          <a:xfrm>
            <a:off x="804672" y="1234440"/>
            <a:ext cx="3657600" cy="256032"/>
          </a:xfrm>
          <a:prstGeom prst="rect">
            <a:avLst/>
          </a:prstGeom>
          <a:noFill/>
          <a:ln/>
        </p:spPr>
        <p:txBody>
          <a:bodyPr wrap="square" lIns="0" tIns="0" rIns="0" bIns="0" rtlCol="0" anchor="ctr"/>
          <a:lstStyle/>
          <a:p>
            <a:pPr indent="0" marL="0">
              <a:buNone/>
            </a:pPr>
            <a:r>
              <a:rPr lang="en-US" sz="1700" b="1" dirty="0">
                <a:solidFill>
                  <a:srgbClr val="0C3046"/>
                </a:solidFill>
              </a:rPr>
              <a:t>Veri Setimiz</a:t>
            </a:r>
            <a:endParaRPr lang="en-US" sz="1700" dirty="0"/>
          </a:p>
        </p:txBody>
      </p:sp>
      <p:sp>
        <p:nvSpPr>
          <p:cNvPr id="6" name="Shape 3"/>
          <p:cNvSpPr/>
          <p:nvPr/>
        </p:nvSpPr>
        <p:spPr>
          <a:xfrm>
            <a:off x="822960" y="1664208"/>
            <a:ext cx="1920240" cy="786384"/>
          </a:xfrm>
          <a:prstGeom prst="roundRect">
            <a:avLst>
              <a:gd name="adj" fmla="val 9302"/>
            </a:avLst>
          </a:prstGeom>
          <a:solidFill>
            <a:srgbClr val="F6F8FA"/>
          </a:solidFill>
          <a:ln w="12700">
            <a:solidFill>
              <a:srgbClr val="B47A1F">
                <a:alpha val="75000"/>
              </a:srgbClr>
            </a:solidFill>
            <a:prstDash val="solid"/>
          </a:ln>
        </p:spPr>
      </p:sp>
      <p:sp>
        <p:nvSpPr>
          <p:cNvPr id="7" name="Text 4"/>
          <p:cNvSpPr/>
          <p:nvPr/>
        </p:nvSpPr>
        <p:spPr>
          <a:xfrm>
            <a:off x="822960" y="1773936"/>
            <a:ext cx="1920240" cy="274320"/>
          </a:xfrm>
          <a:prstGeom prst="rect">
            <a:avLst/>
          </a:prstGeom>
          <a:noFill/>
          <a:ln/>
        </p:spPr>
        <p:txBody>
          <a:bodyPr wrap="square" lIns="0" tIns="0" rIns="0" bIns="0" rtlCol="0" anchor="ctr"/>
          <a:lstStyle/>
          <a:p>
            <a:pPr algn="ctr" indent="0" marL="0">
              <a:buNone/>
            </a:pPr>
            <a:r>
              <a:rPr lang="en-US" sz="2300" b="1" dirty="0">
                <a:solidFill>
                  <a:srgbClr val="B47A1F"/>
                </a:solidFill>
              </a:rPr>
              <a:t>10</a:t>
            </a:r>
            <a:endParaRPr lang="en-US" sz="2300" dirty="0"/>
          </a:p>
        </p:txBody>
      </p:sp>
      <p:sp>
        <p:nvSpPr>
          <p:cNvPr id="8" name="Text 5"/>
          <p:cNvSpPr/>
          <p:nvPr/>
        </p:nvSpPr>
        <p:spPr>
          <a:xfrm>
            <a:off x="886968" y="2167128"/>
            <a:ext cx="1792224" cy="164592"/>
          </a:xfrm>
          <a:prstGeom prst="rect">
            <a:avLst/>
          </a:prstGeom>
          <a:noFill/>
          <a:ln/>
        </p:spPr>
        <p:txBody>
          <a:bodyPr wrap="square" lIns="0" tIns="0" rIns="0" bIns="0" rtlCol="0" anchor="ctr">
            <a:normAutofit/>
          </a:bodyPr>
          <a:lstStyle/>
          <a:p>
            <a:pPr algn="ctr" indent="0" marL="0">
              <a:buNone/>
            </a:pPr>
            <a:r>
              <a:rPr lang="en-US" sz="850" b="1" dirty="0">
                <a:solidFill>
                  <a:srgbClr val="0C3046"/>
                </a:solidFill>
              </a:rPr>
              <a:t>Katılım Bankası</a:t>
            </a:r>
            <a:endParaRPr lang="en-US" sz="850" dirty="0"/>
          </a:p>
        </p:txBody>
      </p:sp>
      <p:sp>
        <p:nvSpPr>
          <p:cNvPr id="9" name="Shape 6"/>
          <p:cNvSpPr/>
          <p:nvPr/>
        </p:nvSpPr>
        <p:spPr>
          <a:xfrm>
            <a:off x="2907792" y="1664208"/>
            <a:ext cx="1920240" cy="786384"/>
          </a:xfrm>
          <a:prstGeom prst="roundRect">
            <a:avLst>
              <a:gd name="adj" fmla="val 9302"/>
            </a:avLst>
          </a:prstGeom>
          <a:solidFill>
            <a:srgbClr val="F6F8FA"/>
          </a:solidFill>
          <a:ln w="12700">
            <a:solidFill>
              <a:srgbClr val="B47A1F">
                <a:alpha val="75000"/>
              </a:srgbClr>
            </a:solidFill>
            <a:prstDash val="solid"/>
          </a:ln>
        </p:spPr>
      </p:sp>
      <p:sp>
        <p:nvSpPr>
          <p:cNvPr id="10" name="Text 7"/>
          <p:cNvSpPr/>
          <p:nvPr/>
        </p:nvSpPr>
        <p:spPr>
          <a:xfrm>
            <a:off x="2907792" y="1773936"/>
            <a:ext cx="1920240" cy="274320"/>
          </a:xfrm>
          <a:prstGeom prst="rect">
            <a:avLst/>
          </a:prstGeom>
          <a:noFill/>
          <a:ln/>
        </p:spPr>
        <p:txBody>
          <a:bodyPr wrap="square" lIns="0" tIns="0" rIns="0" bIns="0" rtlCol="0" anchor="ctr"/>
          <a:lstStyle/>
          <a:p>
            <a:pPr algn="ctr" indent="0" marL="0">
              <a:buNone/>
            </a:pPr>
            <a:r>
              <a:rPr lang="en-US" sz="2300" b="1" dirty="0">
                <a:solidFill>
                  <a:srgbClr val="B47A1F"/>
                </a:solidFill>
              </a:rPr>
              <a:t>530</a:t>
            </a:r>
            <a:endParaRPr lang="en-US" sz="2300" dirty="0"/>
          </a:p>
        </p:txBody>
      </p:sp>
      <p:sp>
        <p:nvSpPr>
          <p:cNvPr id="11" name="Text 8"/>
          <p:cNvSpPr/>
          <p:nvPr/>
        </p:nvSpPr>
        <p:spPr>
          <a:xfrm>
            <a:off x="2971800" y="2167128"/>
            <a:ext cx="1792224" cy="164592"/>
          </a:xfrm>
          <a:prstGeom prst="rect">
            <a:avLst/>
          </a:prstGeom>
          <a:noFill/>
          <a:ln/>
        </p:spPr>
        <p:txBody>
          <a:bodyPr wrap="square" lIns="0" tIns="0" rIns="0" bIns="0" rtlCol="0" anchor="ctr">
            <a:normAutofit/>
          </a:bodyPr>
          <a:lstStyle/>
          <a:p>
            <a:pPr algn="ctr" indent="0" marL="0">
              <a:buNone/>
            </a:pPr>
            <a:r>
              <a:rPr lang="en-US" sz="850" b="1" dirty="0">
                <a:solidFill>
                  <a:srgbClr val="0C3046"/>
                </a:solidFill>
              </a:rPr>
              <a:t>Toplam Kayıt</a:t>
            </a:r>
            <a:endParaRPr lang="en-US" sz="850" dirty="0"/>
          </a:p>
        </p:txBody>
      </p:sp>
      <p:sp>
        <p:nvSpPr>
          <p:cNvPr id="12" name="Shape 9"/>
          <p:cNvSpPr/>
          <p:nvPr/>
        </p:nvSpPr>
        <p:spPr>
          <a:xfrm>
            <a:off x="822960" y="2697480"/>
            <a:ext cx="1920240" cy="786384"/>
          </a:xfrm>
          <a:prstGeom prst="roundRect">
            <a:avLst>
              <a:gd name="adj" fmla="val 9302"/>
            </a:avLst>
          </a:prstGeom>
          <a:solidFill>
            <a:srgbClr val="F6F8FA"/>
          </a:solidFill>
          <a:ln w="12700">
            <a:solidFill>
              <a:srgbClr val="B47A1F">
                <a:alpha val="75000"/>
              </a:srgbClr>
            </a:solidFill>
            <a:prstDash val="solid"/>
          </a:ln>
        </p:spPr>
      </p:sp>
      <p:sp>
        <p:nvSpPr>
          <p:cNvPr id="13" name="Text 10"/>
          <p:cNvSpPr/>
          <p:nvPr/>
        </p:nvSpPr>
        <p:spPr>
          <a:xfrm>
            <a:off x="822960" y="2807208"/>
            <a:ext cx="1920240" cy="274320"/>
          </a:xfrm>
          <a:prstGeom prst="rect">
            <a:avLst/>
          </a:prstGeom>
          <a:noFill/>
          <a:ln/>
        </p:spPr>
        <p:txBody>
          <a:bodyPr wrap="square" lIns="0" tIns="0" rIns="0" bIns="0" rtlCol="0" anchor="ctr"/>
          <a:lstStyle/>
          <a:p>
            <a:pPr algn="ctr" indent="0" marL="0">
              <a:buNone/>
            </a:pPr>
            <a:r>
              <a:rPr lang="en-US" sz="2300" b="1" dirty="0">
                <a:solidFill>
                  <a:srgbClr val="B47A1F"/>
                </a:solidFill>
              </a:rPr>
              <a:t>116</a:t>
            </a:r>
            <a:endParaRPr lang="en-US" sz="2300" dirty="0"/>
          </a:p>
        </p:txBody>
      </p:sp>
      <p:sp>
        <p:nvSpPr>
          <p:cNvPr id="14" name="Text 11"/>
          <p:cNvSpPr/>
          <p:nvPr/>
        </p:nvSpPr>
        <p:spPr>
          <a:xfrm>
            <a:off x="886968" y="3200400"/>
            <a:ext cx="1792224" cy="164592"/>
          </a:xfrm>
          <a:prstGeom prst="rect">
            <a:avLst/>
          </a:prstGeom>
          <a:noFill/>
          <a:ln/>
        </p:spPr>
        <p:txBody>
          <a:bodyPr wrap="square" lIns="0" tIns="0" rIns="0" bIns="0" rtlCol="0" anchor="ctr">
            <a:normAutofit/>
          </a:bodyPr>
          <a:lstStyle/>
          <a:p>
            <a:pPr algn="ctr" indent="0" marL="0">
              <a:buNone/>
            </a:pPr>
            <a:r>
              <a:rPr lang="en-US" sz="850" b="1" dirty="0">
                <a:solidFill>
                  <a:srgbClr val="0C3046"/>
                </a:solidFill>
              </a:rPr>
              <a:t>Finansman Ürünü</a:t>
            </a:r>
            <a:endParaRPr lang="en-US" sz="850" dirty="0"/>
          </a:p>
        </p:txBody>
      </p:sp>
      <p:sp>
        <p:nvSpPr>
          <p:cNvPr id="15" name="Shape 12"/>
          <p:cNvSpPr/>
          <p:nvPr/>
        </p:nvSpPr>
        <p:spPr>
          <a:xfrm>
            <a:off x="2907792" y="2697480"/>
            <a:ext cx="1920240" cy="786384"/>
          </a:xfrm>
          <a:prstGeom prst="roundRect">
            <a:avLst>
              <a:gd name="adj" fmla="val 9302"/>
            </a:avLst>
          </a:prstGeom>
          <a:solidFill>
            <a:srgbClr val="F6F8FA"/>
          </a:solidFill>
          <a:ln w="12700">
            <a:solidFill>
              <a:srgbClr val="B47A1F">
                <a:alpha val="75000"/>
              </a:srgbClr>
            </a:solidFill>
            <a:prstDash val="solid"/>
          </a:ln>
        </p:spPr>
      </p:sp>
      <p:sp>
        <p:nvSpPr>
          <p:cNvPr id="16" name="Text 13"/>
          <p:cNvSpPr/>
          <p:nvPr/>
        </p:nvSpPr>
        <p:spPr>
          <a:xfrm>
            <a:off x="2907792" y="2807208"/>
            <a:ext cx="1920240" cy="274320"/>
          </a:xfrm>
          <a:prstGeom prst="rect">
            <a:avLst/>
          </a:prstGeom>
          <a:noFill/>
          <a:ln/>
        </p:spPr>
        <p:txBody>
          <a:bodyPr wrap="square" lIns="0" tIns="0" rIns="0" bIns="0" rtlCol="0" anchor="ctr"/>
          <a:lstStyle/>
          <a:p>
            <a:pPr algn="ctr" indent="0" marL="0">
              <a:buNone/>
            </a:pPr>
            <a:r>
              <a:rPr lang="en-US" sz="2300" b="1" dirty="0">
                <a:solidFill>
                  <a:srgbClr val="B47A1F"/>
                </a:solidFill>
              </a:rPr>
              <a:t>414</a:t>
            </a:r>
            <a:endParaRPr lang="en-US" sz="2300" dirty="0"/>
          </a:p>
        </p:txBody>
      </p:sp>
      <p:sp>
        <p:nvSpPr>
          <p:cNvPr id="17" name="Text 14"/>
          <p:cNvSpPr/>
          <p:nvPr/>
        </p:nvSpPr>
        <p:spPr>
          <a:xfrm>
            <a:off x="2971800" y="3200400"/>
            <a:ext cx="1792224" cy="164592"/>
          </a:xfrm>
          <a:prstGeom prst="rect">
            <a:avLst/>
          </a:prstGeom>
          <a:noFill/>
          <a:ln/>
        </p:spPr>
        <p:txBody>
          <a:bodyPr wrap="square" lIns="0" tIns="0" rIns="0" bIns="0" rtlCol="0" anchor="ctr">
            <a:normAutofit/>
          </a:bodyPr>
          <a:lstStyle/>
          <a:p>
            <a:pPr algn="ctr" indent="0" marL="0">
              <a:buNone/>
            </a:pPr>
            <a:r>
              <a:rPr lang="en-US" sz="850" b="1" dirty="0">
                <a:solidFill>
                  <a:srgbClr val="0C3046"/>
                </a:solidFill>
              </a:rPr>
              <a:t>Kampanya</a:t>
            </a:r>
            <a:endParaRPr lang="en-US" sz="850" dirty="0"/>
          </a:p>
        </p:txBody>
      </p:sp>
      <p:sp>
        <p:nvSpPr>
          <p:cNvPr id="18" name="Text 15"/>
          <p:cNvSpPr/>
          <p:nvPr/>
        </p:nvSpPr>
        <p:spPr>
          <a:xfrm>
            <a:off x="841248" y="3858768"/>
            <a:ext cx="4114800" cy="365760"/>
          </a:xfrm>
          <a:prstGeom prst="rect">
            <a:avLst/>
          </a:prstGeom>
          <a:noFill/>
          <a:ln/>
        </p:spPr>
        <p:txBody>
          <a:bodyPr wrap="square" lIns="0" tIns="0" rIns="0" bIns="0" rtlCol="0" anchor="ctr">
            <a:normAutofit/>
          </a:bodyPr>
          <a:lstStyle/>
          <a:p>
            <a:pPr indent="0" marL="0">
              <a:buNone/>
            </a:pPr>
            <a:r>
              <a:rPr lang="en-US" sz="1080" dirty="0">
                <a:solidFill>
                  <a:srgbClr val="53606B"/>
                </a:solidFill>
              </a:rPr>
              <a:t>Tüm kayıtlar bankaların kamuya açık resmî web sayfalarından elde edilmiştir.</a:t>
            </a:r>
            <a:endParaRPr lang="en-US" sz="1080" dirty="0"/>
          </a:p>
        </p:txBody>
      </p:sp>
      <p:sp>
        <p:nvSpPr>
          <p:cNvPr id="19" name="Text 16"/>
          <p:cNvSpPr/>
          <p:nvPr/>
        </p:nvSpPr>
        <p:spPr>
          <a:xfrm>
            <a:off x="5577840" y="1234440"/>
            <a:ext cx="4114800" cy="256032"/>
          </a:xfrm>
          <a:prstGeom prst="rect">
            <a:avLst/>
          </a:prstGeom>
          <a:noFill/>
          <a:ln/>
        </p:spPr>
        <p:txBody>
          <a:bodyPr wrap="square" lIns="0" tIns="0" rIns="0" bIns="0" rtlCol="0" anchor="ctr"/>
          <a:lstStyle/>
          <a:p>
            <a:pPr indent="0" marL="0">
              <a:buNone/>
            </a:pPr>
            <a:r>
              <a:rPr lang="en-US" sz="1700" b="1" dirty="0">
                <a:solidFill>
                  <a:srgbClr val="0C3046"/>
                </a:solidFill>
              </a:rPr>
              <a:t>Veri Toplama Akışı</a:t>
            </a:r>
            <a:endParaRPr lang="en-US" sz="1700" dirty="0"/>
          </a:p>
        </p:txBody>
      </p:sp>
      <p:sp>
        <p:nvSpPr>
          <p:cNvPr id="20" name="Shape 17"/>
          <p:cNvSpPr/>
          <p:nvPr/>
        </p:nvSpPr>
        <p:spPr>
          <a:xfrm>
            <a:off x="7040880" y="2212848"/>
            <a:ext cx="530352" cy="0"/>
          </a:xfrm>
          <a:prstGeom prst="line">
            <a:avLst/>
          </a:prstGeom>
          <a:noFill/>
          <a:ln w="22860">
            <a:solidFill>
              <a:srgbClr val="B47A1F"/>
            </a:solidFill>
            <a:prstDash val="solid"/>
            <a:headEnd type="none"/>
            <a:tailEnd type="triangle"/>
          </a:ln>
        </p:spPr>
      </p:sp>
      <p:sp>
        <p:nvSpPr>
          <p:cNvPr id="21" name="Shape 18"/>
          <p:cNvSpPr/>
          <p:nvPr/>
        </p:nvSpPr>
        <p:spPr>
          <a:xfrm>
            <a:off x="9107424" y="2212848"/>
            <a:ext cx="530352" cy="0"/>
          </a:xfrm>
          <a:prstGeom prst="line">
            <a:avLst/>
          </a:prstGeom>
          <a:noFill/>
          <a:ln w="22860">
            <a:solidFill>
              <a:srgbClr val="B47A1F"/>
            </a:solidFill>
            <a:prstDash val="solid"/>
            <a:headEnd type="none"/>
            <a:tailEnd type="triangle"/>
          </a:ln>
        </p:spPr>
      </p:sp>
      <p:sp>
        <p:nvSpPr>
          <p:cNvPr id="22" name="Shape 19"/>
          <p:cNvSpPr/>
          <p:nvPr/>
        </p:nvSpPr>
        <p:spPr>
          <a:xfrm>
            <a:off x="10607040" y="2542032"/>
            <a:ext cx="-1005840" cy="457200"/>
          </a:xfrm>
          <a:prstGeom prst="line">
            <a:avLst/>
          </a:prstGeom>
          <a:noFill/>
          <a:ln w="22860">
            <a:solidFill>
              <a:srgbClr val="B47A1F"/>
            </a:solidFill>
            <a:prstDash val="solid"/>
            <a:headEnd type="none"/>
            <a:tailEnd type="triangle"/>
          </a:ln>
        </p:spPr>
      </p:sp>
      <p:sp>
        <p:nvSpPr>
          <p:cNvPr id="23" name="Shape 20"/>
          <p:cNvSpPr/>
          <p:nvPr/>
        </p:nvSpPr>
        <p:spPr>
          <a:xfrm>
            <a:off x="8028432" y="3493008"/>
            <a:ext cx="585216" cy="0"/>
          </a:xfrm>
          <a:prstGeom prst="line">
            <a:avLst/>
          </a:prstGeom>
          <a:noFill/>
          <a:ln w="22860">
            <a:solidFill>
              <a:srgbClr val="B47A1F"/>
            </a:solidFill>
            <a:prstDash val="solid"/>
            <a:headEnd type="none"/>
            <a:tailEnd type="triangle"/>
          </a:ln>
        </p:spPr>
      </p:sp>
      <p:sp>
        <p:nvSpPr>
          <p:cNvPr id="24" name="Shape 21"/>
          <p:cNvSpPr/>
          <p:nvPr/>
        </p:nvSpPr>
        <p:spPr>
          <a:xfrm>
            <a:off x="5596128" y="1691640"/>
            <a:ext cx="1417320" cy="658368"/>
          </a:xfrm>
          <a:prstGeom prst="roundRect">
            <a:avLst>
              <a:gd name="adj" fmla="val 11111"/>
            </a:avLst>
          </a:prstGeom>
          <a:solidFill>
            <a:srgbClr val="0C3046"/>
          </a:solidFill>
          <a:ln w="12700">
            <a:solidFill>
              <a:srgbClr val="0C3046"/>
            </a:solidFill>
            <a:prstDash val="solid"/>
          </a:ln>
        </p:spPr>
      </p:sp>
      <p:sp>
        <p:nvSpPr>
          <p:cNvPr id="25" name="Text 22"/>
          <p:cNvSpPr/>
          <p:nvPr/>
        </p:nvSpPr>
        <p:spPr>
          <a:xfrm>
            <a:off x="5669280" y="1810512"/>
            <a:ext cx="1271016" cy="219456"/>
          </a:xfrm>
          <a:prstGeom prst="rect">
            <a:avLst/>
          </a:prstGeom>
          <a:noFill/>
          <a:ln/>
        </p:spPr>
        <p:txBody>
          <a:bodyPr wrap="square" lIns="0" tIns="0" rIns="0" bIns="0" rtlCol="0" anchor="ctr">
            <a:normAutofit/>
          </a:bodyPr>
          <a:lstStyle/>
          <a:p>
            <a:pPr algn="ctr" indent="0" marL="0">
              <a:buNone/>
            </a:pPr>
            <a:r>
              <a:rPr lang="en-US" sz="1020" b="1" dirty="0">
                <a:solidFill>
                  <a:srgbClr val="FFFFFF"/>
                </a:solidFill>
              </a:rPr>
              <a:t>Banka Web</a:t>
            </a:r>
            <a:endParaRPr lang="en-US" sz="1020" dirty="0"/>
          </a:p>
          <a:p>
            <a:pPr algn="ctr" indent="0" marL="0">
              <a:buNone/>
            </a:pPr>
            <a:r>
              <a:rPr lang="en-US" sz="1020" b="1" dirty="0">
                <a:solidFill>
                  <a:srgbClr val="FFFFFF"/>
                </a:solidFill>
              </a:rPr>
              <a:t>Siteleri</a:t>
            </a:r>
            <a:endParaRPr lang="en-US" sz="1020" dirty="0"/>
          </a:p>
        </p:txBody>
      </p:sp>
      <p:sp>
        <p:nvSpPr>
          <p:cNvPr id="26" name="Text 23"/>
          <p:cNvSpPr/>
          <p:nvPr/>
        </p:nvSpPr>
        <p:spPr>
          <a:xfrm>
            <a:off x="5669280" y="2066544"/>
            <a:ext cx="1271016" cy="164592"/>
          </a:xfrm>
          <a:prstGeom prst="rect">
            <a:avLst/>
          </a:prstGeom>
          <a:noFill/>
          <a:ln/>
        </p:spPr>
        <p:txBody>
          <a:bodyPr wrap="square" lIns="0" tIns="0" rIns="0" bIns="0" rtlCol="0" anchor="ctr">
            <a:normAutofit/>
          </a:bodyPr>
          <a:lstStyle/>
          <a:p>
            <a:pPr algn="ctr" indent="0" marL="0">
              <a:buNone/>
            </a:pPr>
            <a:r>
              <a:rPr lang="en-US" sz="770" dirty="0">
                <a:solidFill>
                  <a:srgbClr val="FFFFFF"/>
                </a:solidFill>
              </a:rPr>
              <a:t>resmî kaynak</a:t>
            </a:r>
            <a:endParaRPr lang="en-US" sz="770" dirty="0"/>
          </a:p>
        </p:txBody>
      </p:sp>
      <p:sp>
        <p:nvSpPr>
          <p:cNvPr id="27" name="Shape 24"/>
          <p:cNvSpPr/>
          <p:nvPr/>
        </p:nvSpPr>
        <p:spPr>
          <a:xfrm>
            <a:off x="7662672" y="1691640"/>
            <a:ext cx="1417320" cy="658368"/>
          </a:xfrm>
          <a:prstGeom prst="roundRect">
            <a:avLst>
              <a:gd name="adj" fmla="val 11111"/>
            </a:avLst>
          </a:prstGeom>
          <a:solidFill>
            <a:srgbClr val="B47A1F"/>
          </a:solidFill>
          <a:ln w="12700">
            <a:solidFill>
              <a:srgbClr val="B47A1F"/>
            </a:solidFill>
            <a:prstDash val="solid"/>
          </a:ln>
        </p:spPr>
      </p:sp>
      <p:sp>
        <p:nvSpPr>
          <p:cNvPr id="28" name="Text 25"/>
          <p:cNvSpPr/>
          <p:nvPr/>
        </p:nvSpPr>
        <p:spPr>
          <a:xfrm>
            <a:off x="7735824" y="1810512"/>
            <a:ext cx="1271016" cy="219456"/>
          </a:xfrm>
          <a:prstGeom prst="rect">
            <a:avLst/>
          </a:prstGeom>
          <a:noFill/>
          <a:ln/>
        </p:spPr>
        <p:txBody>
          <a:bodyPr wrap="square" lIns="0" tIns="0" rIns="0" bIns="0" rtlCol="0" anchor="ctr">
            <a:normAutofit/>
          </a:bodyPr>
          <a:lstStyle/>
          <a:p>
            <a:pPr algn="ctr" indent="0" marL="0">
              <a:buNone/>
            </a:pPr>
            <a:r>
              <a:rPr lang="en-US" sz="1020" b="1" dirty="0">
                <a:solidFill>
                  <a:srgbClr val="FFFFFF"/>
                </a:solidFill>
              </a:rPr>
              <a:t>Scraping &amp;</a:t>
            </a:r>
            <a:endParaRPr lang="en-US" sz="1020" dirty="0"/>
          </a:p>
          <a:p>
            <a:pPr algn="ctr" indent="0" marL="0">
              <a:buNone/>
            </a:pPr>
            <a:r>
              <a:rPr lang="en-US" sz="1020" b="1" dirty="0">
                <a:solidFill>
                  <a:srgbClr val="FFFFFF"/>
                </a:solidFill>
              </a:rPr>
              <a:t>Discovery</a:t>
            </a:r>
            <a:endParaRPr lang="en-US" sz="1020" dirty="0"/>
          </a:p>
        </p:txBody>
      </p:sp>
      <p:sp>
        <p:nvSpPr>
          <p:cNvPr id="29" name="Text 26"/>
          <p:cNvSpPr/>
          <p:nvPr/>
        </p:nvSpPr>
        <p:spPr>
          <a:xfrm>
            <a:off x="7735824" y="2066544"/>
            <a:ext cx="1271016" cy="164592"/>
          </a:xfrm>
          <a:prstGeom prst="rect">
            <a:avLst/>
          </a:prstGeom>
          <a:noFill/>
          <a:ln/>
        </p:spPr>
        <p:txBody>
          <a:bodyPr wrap="square" lIns="0" tIns="0" rIns="0" bIns="0" rtlCol="0" anchor="ctr">
            <a:normAutofit/>
          </a:bodyPr>
          <a:lstStyle/>
          <a:p>
            <a:pPr algn="ctr" indent="0" marL="0">
              <a:buNone/>
            </a:pPr>
            <a:r>
              <a:rPr lang="en-US" sz="770" dirty="0">
                <a:solidFill>
                  <a:srgbClr val="FFFFFF"/>
                </a:solidFill>
              </a:rPr>
              <a:t>Python akışı</a:t>
            </a:r>
            <a:endParaRPr lang="en-US" sz="770" dirty="0"/>
          </a:p>
        </p:txBody>
      </p:sp>
      <p:sp>
        <p:nvSpPr>
          <p:cNvPr id="30" name="Shape 27"/>
          <p:cNvSpPr/>
          <p:nvPr/>
        </p:nvSpPr>
        <p:spPr>
          <a:xfrm>
            <a:off x="9729216" y="1691640"/>
            <a:ext cx="1417320" cy="658368"/>
          </a:xfrm>
          <a:prstGeom prst="roundRect">
            <a:avLst>
              <a:gd name="adj" fmla="val 11111"/>
            </a:avLst>
          </a:prstGeom>
          <a:solidFill>
            <a:srgbClr val="0C3046"/>
          </a:solidFill>
          <a:ln w="12700">
            <a:solidFill>
              <a:srgbClr val="0C3046"/>
            </a:solidFill>
            <a:prstDash val="solid"/>
          </a:ln>
        </p:spPr>
      </p:sp>
      <p:sp>
        <p:nvSpPr>
          <p:cNvPr id="31" name="Text 28"/>
          <p:cNvSpPr/>
          <p:nvPr/>
        </p:nvSpPr>
        <p:spPr>
          <a:xfrm>
            <a:off x="9802368" y="1810512"/>
            <a:ext cx="1271016" cy="219456"/>
          </a:xfrm>
          <a:prstGeom prst="rect">
            <a:avLst/>
          </a:prstGeom>
          <a:noFill/>
          <a:ln/>
        </p:spPr>
        <p:txBody>
          <a:bodyPr wrap="square" lIns="0" tIns="0" rIns="0" bIns="0" rtlCol="0" anchor="ctr">
            <a:normAutofit/>
          </a:bodyPr>
          <a:lstStyle/>
          <a:p>
            <a:pPr algn="ctr" indent="0" marL="0">
              <a:buNone/>
            </a:pPr>
            <a:r>
              <a:rPr lang="en-US" sz="1020" b="1" dirty="0">
                <a:solidFill>
                  <a:srgbClr val="FFFFFF"/>
                </a:solidFill>
              </a:rPr>
              <a:t>Ham Finansal</a:t>
            </a:r>
            <a:endParaRPr lang="en-US" sz="1020" dirty="0"/>
          </a:p>
          <a:p>
            <a:pPr algn="ctr" indent="0" marL="0">
              <a:buNone/>
            </a:pPr>
            <a:r>
              <a:rPr lang="en-US" sz="1020" b="1" dirty="0">
                <a:solidFill>
                  <a:srgbClr val="FFFFFF"/>
                </a:solidFill>
              </a:rPr>
              <a:t>Metin</a:t>
            </a:r>
            <a:endParaRPr lang="en-US" sz="1020" dirty="0"/>
          </a:p>
        </p:txBody>
      </p:sp>
      <p:sp>
        <p:nvSpPr>
          <p:cNvPr id="32" name="Text 29"/>
          <p:cNvSpPr/>
          <p:nvPr/>
        </p:nvSpPr>
        <p:spPr>
          <a:xfrm>
            <a:off x="9802368" y="2066544"/>
            <a:ext cx="1271016" cy="164592"/>
          </a:xfrm>
          <a:prstGeom prst="rect">
            <a:avLst/>
          </a:prstGeom>
          <a:noFill/>
          <a:ln/>
        </p:spPr>
        <p:txBody>
          <a:bodyPr wrap="square" lIns="0" tIns="0" rIns="0" bIns="0" rtlCol="0" anchor="ctr">
            <a:normAutofit/>
          </a:bodyPr>
          <a:lstStyle/>
          <a:p>
            <a:pPr algn="ctr" indent="0" marL="0">
              <a:buNone/>
            </a:pPr>
            <a:r>
              <a:rPr lang="en-US" sz="770" dirty="0">
                <a:solidFill>
                  <a:srgbClr val="FFFFFF"/>
                </a:solidFill>
              </a:rPr>
              <a:t>ürün + kampanya</a:t>
            </a:r>
            <a:endParaRPr lang="en-US" sz="770" dirty="0"/>
          </a:p>
        </p:txBody>
      </p:sp>
      <p:sp>
        <p:nvSpPr>
          <p:cNvPr id="33" name="Shape 30"/>
          <p:cNvSpPr/>
          <p:nvPr/>
        </p:nvSpPr>
        <p:spPr>
          <a:xfrm>
            <a:off x="6629400" y="2971800"/>
            <a:ext cx="1417320" cy="658368"/>
          </a:xfrm>
          <a:prstGeom prst="roundRect">
            <a:avLst>
              <a:gd name="adj" fmla="val 11111"/>
            </a:avLst>
          </a:prstGeom>
          <a:solidFill>
            <a:srgbClr val="B47A1F"/>
          </a:solidFill>
          <a:ln w="12700">
            <a:solidFill>
              <a:srgbClr val="B47A1F"/>
            </a:solidFill>
            <a:prstDash val="solid"/>
          </a:ln>
        </p:spPr>
      </p:sp>
      <p:sp>
        <p:nvSpPr>
          <p:cNvPr id="34" name="Text 31"/>
          <p:cNvSpPr/>
          <p:nvPr/>
        </p:nvSpPr>
        <p:spPr>
          <a:xfrm>
            <a:off x="6702552" y="3090672"/>
            <a:ext cx="1271016" cy="219456"/>
          </a:xfrm>
          <a:prstGeom prst="rect">
            <a:avLst/>
          </a:prstGeom>
          <a:noFill/>
          <a:ln/>
        </p:spPr>
        <p:txBody>
          <a:bodyPr wrap="square" lIns="0" tIns="0" rIns="0" bIns="0" rtlCol="0" anchor="ctr">
            <a:normAutofit/>
          </a:bodyPr>
          <a:lstStyle/>
          <a:p>
            <a:pPr algn="ctr" indent="0" marL="0">
              <a:buNone/>
            </a:pPr>
            <a:r>
              <a:rPr lang="en-US" sz="1020" b="1" dirty="0">
                <a:solidFill>
                  <a:srgbClr val="FFFFFF"/>
                </a:solidFill>
              </a:rPr>
              <a:t>İşleme &amp;</a:t>
            </a:r>
            <a:endParaRPr lang="en-US" sz="1020" dirty="0"/>
          </a:p>
          <a:p>
            <a:pPr algn="ctr" indent="0" marL="0">
              <a:buNone/>
            </a:pPr>
            <a:r>
              <a:rPr lang="en-US" sz="1020" b="1" dirty="0">
                <a:solidFill>
                  <a:srgbClr val="FFFFFF"/>
                </a:solidFill>
              </a:rPr>
              <a:t>Normalizasyon</a:t>
            </a:r>
            <a:endParaRPr lang="en-US" sz="1020" dirty="0"/>
          </a:p>
        </p:txBody>
      </p:sp>
      <p:sp>
        <p:nvSpPr>
          <p:cNvPr id="35" name="Text 32"/>
          <p:cNvSpPr/>
          <p:nvPr/>
        </p:nvSpPr>
        <p:spPr>
          <a:xfrm>
            <a:off x="6702552" y="3346704"/>
            <a:ext cx="1271016" cy="164592"/>
          </a:xfrm>
          <a:prstGeom prst="rect">
            <a:avLst/>
          </a:prstGeom>
          <a:noFill/>
          <a:ln/>
        </p:spPr>
        <p:txBody>
          <a:bodyPr wrap="square" lIns="0" tIns="0" rIns="0" bIns="0" rtlCol="0" anchor="ctr">
            <a:normAutofit/>
          </a:bodyPr>
          <a:lstStyle/>
          <a:p>
            <a:pPr algn="ctr" indent="0" marL="0">
              <a:buNone/>
            </a:pPr>
            <a:r>
              <a:rPr lang="en-US" sz="770" dirty="0">
                <a:solidFill>
                  <a:srgbClr val="FFFFFF"/>
                </a:solidFill>
              </a:rPr>
              <a:t>ortak alanlar</a:t>
            </a:r>
            <a:endParaRPr lang="en-US" sz="770" dirty="0"/>
          </a:p>
        </p:txBody>
      </p:sp>
      <p:sp>
        <p:nvSpPr>
          <p:cNvPr id="36" name="Shape 33"/>
          <p:cNvSpPr/>
          <p:nvPr/>
        </p:nvSpPr>
        <p:spPr>
          <a:xfrm>
            <a:off x="8705088" y="2971800"/>
            <a:ext cx="1417320" cy="658368"/>
          </a:xfrm>
          <a:prstGeom prst="roundRect">
            <a:avLst>
              <a:gd name="adj" fmla="val 11111"/>
            </a:avLst>
          </a:prstGeom>
          <a:solidFill>
            <a:srgbClr val="0C3046"/>
          </a:solidFill>
          <a:ln w="12700">
            <a:solidFill>
              <a:srgbClr val="0C3046"/>
            </a:solidFill>
            <a:prstDash val="solid"/>
          </a:ln>
        </p:spPr>
      </p:sp>
      <p:sp>
        <p:nvSpPr>
          <p:cNvPr id="37" name="Text 34"/>
          <p:cNvSpPr/>
          <p:nvPr/>
        </p:nvSpPr>
        <p:spPr>
          <a:xfrm>
            <a:off x="8778240" y="3090672"/>
            <a:ext cx="1271016" cy="219456"/>
          </a:xfrm>
          <a:prstGeom prst="rect">
            <a:avLst/>
          </a:prstGeom>
          <a:noFill/>
          <a:ln/>
        </p:spPr>
        <p:txBody>
          <a:bodyPr wrap="square" lIns="0" tIns="0" rIns="0" bIns="0" rtlCol="0" anchor="ctr">
            <a:normAutofit/>
          </a:bodyPr>
          <a:lstStyle/>
          <a:p>
            <a:pPr algn="ctr" indent="0" marL="0">
              <a:buNone/>
            </a:pPr>
            <a:r>
              <a:rPr lang="en-US" sz="1020" b="1" dirty="0">
                <a:solidFill>
                  <a:srgbClr val="FFFFFF"/>
                </a:solidFill>
              </a:rPr>
              <a:t>Ortak Master</a:t>
            </a:r>
            <a:endParaRPr lang="en-US" sz="1020" dirty="0"/>
          </a:p>
          <a:p>
            <a:pPr algn="ctr" indent="0" marL="0">
              <a:buNone/>
            </a:pPr>
            <a:r>
              <a:rPr lang="en-US" sz="1020" b="1" dirty="0">
                <a:solidFill>
                  <a:srgbClr val="FFFFFF"/>
                </a:solidFill>
              </a:rPr>
              <a:t>Veri</a:t>
            </a:r>
            <a:endParaRPr lang="en-US" sz="1020" dirty="0"/>
          </a:p>
        </p:txBody>
      </p:sp>
      <p:sp>
        <p:nvSpPr>
          <p:cNvPr id="38" name="Text 35"/>
          <p:cNvSpPr/>
          <p:nvPr/>
        </p:nvSpPr>
        <p:spPr>
          <a:xfrm>
            <a:off x="8778240" y="3346704"/>
            <a:ext cx="1271016" cy="164592"/>
          </a:xfrm>
          <a:prstGeom prst="rect">
            <a:avLst/>
          </a:prstGeom>
          <a:noFill/>
          <a:ln/>
        </p:spPr>
        <p:txBody>
          <a:bodyPr wrap="square" lIns="0" tIns="0" rIns="0" bIns="0" rtlCol="0" anchor="ctr">
            <a:normAutofit/>
          </a:bodyPr>
          <a:lstStyle/>
          <a:p>
            <a:pPr algn="ctr" indent="0" marL="0">
              <a:buNone/>
            </a:pPr>
            <a:r>
              <a:rPr lang="en-US" sz="770" dirty="0">
                <a:solidFill>
                  <a:srgbClr val="FFFFFF"/>
                </a:solidFill>
              </a:rPr>
              <a:t>tek kaynak</a:t>
            </a:r>
            <a:endParaRPr lang="en-US" sz="770" dirty="0"/>
          </a:p>
        </p:txBody>
      </p:sp>
      <p:sp>
        <p:nvSpPr>
          <p:cNvPr id="39" name="Shape 36"/>
          <p:cNvSpPr/>
          <p:nvPr/>
        </p:nvSpPr>
        <p:spPr>
          <a:xfrm>
            <a:off x="5596128" y="4160520"/>
            <a:ext cx="1060704" cy="329184"/>
          </a:xfrm>
          <a:prstGeom prst="roundRect">
            <a:avLst>
              <a:gd name="adj" fmla="val 19444"/>
            </a:avLst>
          </a:prstGeom>
          <a:solidFill>
            <a:srgbClr val="E7F0F6"/>
          </a:solidFill>
          <a:ln w="12700">
            <a:solidFill>
              <a:srgbClr val="E7F0F6"/>
            </a:solidFill>
            <a:prstDash val="solid"/>
          </a:ln>
        </p:spPr>
      </p:sp>
      <p:sp>
        <p:nvSpPr>
          <p:cNvPr id="40" name="Text 37"/>
          <p:cNvSpPr/>
          <p:nvPr/>
        </p:nvSpPr>
        <p:spPr>
          <a:xfrm>
            <a:off x="5596128" y="4247388"/>
            <a:ext cx="1060704" cy="109728"/>
          </a:xfrm>
          <a:prstGeom prst="rect">
            <a:avLst/>
          </a:prstGeom>
          <a:noFill/>
          <a:ln/>
        </p:spPr>
        <p:txBody>
          <a:bodyPr wrap="square" lIns="0" tIns="0" rIns="0" bIns="0" rtlCol="0" anchor="ctr"/>
          <a:lstStyle/>
          <a:p>
            <a:pPr algn="ctr" indent="0" marL="0">
              <a:buNone/>
            </a:pPr>
            <a:r>
              <a:rPr lang="en-US" sz="920" b="1" dirty="0">
                <a:solidFill>
                  <a:srgbClr val="0C3046"/>
                </a:solidFill>
              </a:rPr>
              <a:t>Python</a:t>
            </a:r>
            <a:endParaRPr lang="en-US" sz="920" dirty="0"/>
          </a:p>
        </p:txBody>
      </p:sp>
      <p:sp>
        <p:nvSpPr>
          <p:cNvPr id="41" name="Shape 38"/>
          <p:cNvSpPr/>
          <p:nvPr/>
        </p:nvSpPr>
        <p:spPr>
          <a:xfrm>
            <a:off x="6858000" y="4160520"/>
            <a:ext cx="1060704" cy="329184"/>
          </a:xfrm>
          <a:prstGeom prst="roundRect">
            <a:avLst>
              <a:gd name="adj" fmla="val 19444"/>
            </a:avLst>
          </a:prstGeom>
          <a:solidFill>
            <a:srgbClr val="FFF4DC"/>
          </a:solidFill>
          <a:ln w="12700">
            <a:solidFill>
              <a:srgbClr val="FFF4DC"/>
            </a:solidFill>
            <a:prstDash val="solid"/>
          </a:ln>
        </p:spPr>
      </p:sp>
      <p:sp>
        <p:nvSpPr>
          <p:cNvPr id="42" name="Text 39"/>
          <p:cNvSpPr/>
          <p:nvPr/>
        </p:nvSpPr>
        <p:spPr>
          <a:xfrm>
            <a:off x="6858000" y="4247388"/>
            <a:ext cx="1060704" cy="109728"/>
          </a:xfrm>
          <a:prstGeom prst="rect">
            <a:avLst/>
          </a:prstGeom>
          <a:noFill/>
          <a:ln/>
        </p:spPr>
        <p:txBody>
          <a:bodyPr wrap="square" lIns="0" tIns="0" rIns="0" bIns="0" rtlCol="0" anchor="ctr"/>
          <a:lstStyle/>
          <a:p>
            <a:pPr algn="ctr" indent="0" marL="0">
              <a:buNone/>
            </a:pPr>
            <a:r>
              <a:rPr lang="en-US" sz="920" b="1" dirty="0">
                <a:solidFill>
                  <a:srgbClr val="B47A1F"/>
                </a:solidFill>
              </a:rPr>
              <a:t>Requests</a:t>
            </a:r>
            <a:endParaRPr lang="en-US" sz="920" dirty="0"/>
          </a:p>
        </p:txBody>
      </p:sp>
      <p:sp>
        <p:nvSpPr>
          <p:cNvPr id="43" name="Shape 40"/>
          <p:cNvSpPr/>
          <p:nvPr/>
        </p:nvSpPr>
        <p:spPr>
          <a:xfrm>
            <a:off x="8119872" y="4160520"/>
            <a:ext cx="1060704" cy="329184"/>
          </a:xfrm>
          <a:prstGeom prst="roundRect">
            <a:avLst>
              <a:gd name="adj" fmla="val 19444"/>
            </a:avLst>
          </a:prstGeom>
          <a:solidFill>
            <a:srgbClr val="E7F0F6"/>
          </a:solidFill>
          <a:ln w="12700">
            <a:solidFill>
              <a:srgbClr val="E7F0F6"/>
            </a:solidFill>
            <a:prstDash val="solid"/>
          </a:ln>
        </p:spPr>
      </p:sp>
      <p:sp>
        <p:nvSpPr>
          <p:cNvPr id="44" name="Text 41"/>
          <p:cNvSpPr/>
          <p:nvPr/>
        </p:nvSpPr>
        <p:spPr>
          <a:xfrm>
            <a:off x="8119872" y="4247388"/>
            <a:ext cx="1060704" cy="109728"/>
          </a:xfrm>
          <a:prstGeom prst="rect">
            <a:avLst/>
          </a:prstGeom>
          <a:noFill/>
          <a:ln/>
        </p:spPr>
        <p:txBody>
          <a:bodyPr wrap="square" lIns="0" tIns="0" rIns="0" bIns="0" rtlCol="0" anchor="ctr"/>
          <a:lstStyle/>
          <a:p>
            <a:pPr algn="ctr" indent="0" marL="0">
              <a:buNone/>
            </a:pPr>
            <a:r>
              <a:rPr lang="en-US" sz="920" b="1" dirty="0">
                <a:solidFill>
                  <a:srgbClr val="0C3046"/>
                </a:solidFill>
              </a:rPr>
              <a:t>BeautifulSoup</a:t>
            </a:r>
            <a:endParaRPr lang="en-US" sz="920" dirty="0"/>
          </a:p>
        </p:txBody>
      </p:sp>
      <p:sp>
        <p:nvSpPr>
          <p:cNvPr id="45" name="Shape 42"/>
          <p:cNvSpPr/>
          <p:nvPr/>
        </p:nvSpPr>
        <p:spPr>
          <a:xfrm>
            <a:off x="5596128" y="4617720"/>
            <a:ext cx="1060704" cy="329184"/>
          </a:xfrm>
          <a:prstGeom prst="roundRect">
            <a:avLst>
              <a:gd name="adj" fmla="val 19444"/>
            </a:avLst>
          </a:prstGeom>
          <a:solidFill>
            <a:srgbClr val="FFF4DC"/>
          </a:solidFill>
          <a:ln w="12700">
            <a:solidFill>
              <a:srgbClr val="FFF4DC"/>
            </a:solidFill>
            <a:prstDash val="solid"/>
          </a:ln>
        </p:spPr>
      </p:sp>
      <p:sp>
        <p:nvSpPr>
          <p:cNvPr id="46" name="Text 43"/>
          <p:cNvSpPr/>
          <p:nvPr/>
        </p:nvSpPr>
        <p:spPr>
          <a:xfrm>
            <a:off x="5596128" y="4704588"/>
            <a:ext cx="1060704" cy="109728"/>
          </a:xfrm>
          <a:prstGeom prst="rect">
            <a:avLst/>
          </a:prstGeom>
          <a:noFill/>
          <a:ln/>
        </p:spPr>
        <p:txBody>
          <a:bodyPr wrap="square" lIns="0" tIns="0" rIns="0" bIns="0" rtlCol="0" anchor="ctr"/>
          <a:lstStyle/>
          <a:p>
            <a:pPr algn="ctr" indent="0" marL="0">
              <a:buNone/>
            </a:pPr>
            <a:r>
              <a:rPr lang="en-US" sz="920" b="1" dirty="0">
                <a:solidFill>
                  <a:srgbClr val="B47A1F"/>
                </a:solidFill>
              </a:rPr>
              <a:t>Playwright</a:t>
            </a:r>
            <a:endParaRPr lang="en-US" sz="920" dirty="0"/>
          </a:p>
        </p:txBody>
      </p:sp>
      <p:sp>
        <p:nvSpPr>
          <p:cNvPr id="47" name="Shape 44"/>
          <p:cNvSpPr/>
          <p:nvPr/>
        </p:nvSpPr>
        <p:spPr>
          <a:xfrm>
            <a:off x="6858000" y="4617720"/>
            <a:ext cx="1060704" cy="329184"/>
          </a:xfrm>
          <a:prstGeom prst="roundRect">
            <a:avLst>
              <a:gd name="adj" fmla="val 19444"/>
            </a:avLst>
          </a:prstGeom>
          <a:solidFill>
            <a:srgbClr val="E7F0F6"/>
          </a:solidFill>
          <a:ln w="12700">
            <a:solidFill>
              <a:srgbClr val="E7F0F6"/>
            </a:solidFill>
            <a:prstDash val="solid"/>
          </a:ln>
        </p:spPr>
      </p:sp>
      <p:sp>
        <p:nvSpPr>
          <p:cNvPr id="48" name="Text 45"/>
          <p:cNvSpPr/>
          <p:nvPr/>
        </p:nvSpPr>
        <p:spPr>
          <a:xfrm>
            <a:off x="6858000" y="4704588"/>
            <a:ext cx="1060704" cy="109728"/>
          </a:xfrm>
          <a:prstGeom prst="rect">
            <a:avLst/>
          </a:prstGeom>
          <a:noFill/>
          <a:ln/>
        </p:spPr>
        <p:txBody>
          <a:bodyPr wrap="square" lIns="0" tIns="0" rIns="0" bIns="0" rtlCol="0" anchor="ctr"/>
          <a:lstStyle/>
          <a:p>
            <a:pPr algn="ctr" indent="0" marL="0">
              <a:buNone/>
            </a:pPr>
            <a:r>
              <a:rPr lang="en-US" sz="920" b="1" dirty="0">
                <a:solidFill>
                  <a:srgbClr val="0C3046"/>
                </a:solidFill>
              </a:rPr>
              <a:t>Selenium</a:t>
            </a:r>
            <a:endParaRPr lang="en-US" sz="920" dirty="0"/>
          </a:p>
        </p:txBody>
      </p:sp>
      <p:sp>
        <p:nvSpPr>
          <p:cNvPr id="49" name="Shape 46"/>
          <p:cNvSpPr/>
          <p:nvPr/>
        </p:nvSpPr>
        <p:spPr>
          <a:xfrm>
            <a:off x="8119872" y="4617720"/>
            <a:ext cx="1060704" cy="329184"/>
          </a:xfrm>
          <a:prstGeom prst="roundRect">
            <a:avLst>
              <a:gd name="adj" fmla="val 19444"/>
            </a:avLst>
          </a:prstGeom>
          <a:solidFill>
            <a:srgbClr val="FFF4DC"/>
          </a:solidFill>
          <a:ln w="12700">
            <a:solidFill>
              <a:srgbClr val="FFF4DC"/>
            </a:solidFill>
            <a:prstDash val="solid"/>
          </a:ln>
        </p:spPr>
      </p:sp>
      <p:sp>
        <p:nvSpPr>
          <p:cNvPr id="50" name="Text 47"/>
          <p:cNvSpPr/>
          <p:nvPr/>
        </p:nvSpPr>
        <p:spPr>
          <a:xfrm>
            <a:off x="8119872" y="4704588"/>
            <a:ext cx="1060704" cy="109728"/>
          </a:xfrm>
          <a:prstGeom prst="rect">
            <a:avLst/>
          </a:prstGeom>
          <a:noFill/>
          <a:ln/>
        </p:spPr>
        <p:txBody>
          <a:bodyPr wrap="square" lIns="0" tIns="0" rIns="0" bIns="0" rtlCol="0" anchor="ctr"/>
          <a:lstStyle/>
          <a:p>
            <a:pPr algn="ctr" indent="0" marL="0">
              <a:buNone/>
            </a:pPr>
            <a:r>
              <a:rPr lang="en-US" sz="920" b="1" dirty="0">
                <a:solidFill>
                  <a:srgbClr val="B47A1F"/>
                </a:solidFill>
              </a:rPr>
              <a:t>LXML</a:t>
            </a:r>
            <a:endParaRPr lang="en-US" sz="920" dirty="0"/>
          </a:p>
        </p:txBody>
      </p:sp>
      <p:sp>
        <p:nvSpPr>
          <p:cNvPr id="51" name="Text 48"/>
          <p:cNvSpPr/>
          <p:nvPr/>
        </p:nvSpPr>
        <p:spPr>
          <a:xfrm>
            <a:off x="5623560" y="5184648"/>
            <a:ext cx="5212080" cy="274320"/>
          </a:xfrm>
          <a:prstGeom prst="rect">
            <a:avLst/>
          </a:prstGeom>
          <a:noFill/>
          <a:ln/>
        </p:spPr>
        <p:txBody>
          <a:bodyPr wrap="square" lIns="0" tIns="0" rIns="0" bIns="0" rtlCol="0" anchor="ctr"/>
          <a:lstStyle/>
          <a:p>
            <a:pPr indent="0" marL="0">
              <a:buNone/>
            </a:pPr>
            <a:r>
              <a:rPr lang="en-US" sz="1150" b="1" dirty="0">
                <a:solidFill>
                  <a:srgbClr val="B47A1F"/>
                </a:solidFill>
              </a:rPr>
              <a:t>Her banka için kendi web yapısına uygun veri toplama akışı geliştirildi.</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mnt/data/template_media/image2.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658368" y="512064"/>
            <a:ext cx="10881360" cy="347472"/>
          </a:xfrm>
          <a:prstGeom prst="rect">
            <a:avLst/>
          </a:prstGeom>
          <a:noFill/>
          <a:ln/>
        </p:spPr>
        <p:txBody>
          <a:bodyPr wrap="square" lIns="0" tIns="0" rIns="0" bIns="0" rtlCol="0" anchor="ctr"/>
          <a:lstStyle/>
          <a:p>
            <a:pPr indent="0" marL="0">
              <a:buNone/>
            </a:pPr>
            <a:r>
              <a:rPr lang="en-US" sz="2600" b="1" dirty="0">
                <a:solidFill>
                  <a:srgbClr val="0C3046"/>
                </a:solidFill>
                <a:latin typeface="Arial" pitchFamily="34" charset="0"/>
                <a:ea typeface="Arial" pitchFamily="34" charset="-122"/>
                <a:cs typeface="Arial" pitchFamily="34" charset="-120"/>
              </a:rPr>
              <a:t>Dinamik Bilgi Çıkarımı</a:t>
            </a:r>
            <a:endParaRPr lang="en-US" sz="2600" dirty="0"/>
          </a:p>
        </p:txBody>
      </p:sp>
      <p:sp>
        <p:nvSpPr>
          <p:cNvPr id="4" name="Text 1"/>
          <p:cNvSpPr/>
          <p:nvPr/>
        </p:nvSpPr>
        <p:spPr>
          <a:xfrm>
            <a:off x="676656" y="914400"/>
            <a:ext cx="10515600" cy="256032"/>
          </a:xfrm>
          <a:prstGeom prst="rect">
            <a:avLst/>
          </a:prstGeom>
          <a:noFill/>
          <a:ln/>
        </p:spPr>
        <p:txBody>
          <a:bodyPr wrap="square" lIns="0" tIns="0" rIns="0" bIns="0" rtlCol="0" anchor="ctr"/>
          <a:lstStyle/>
          <a:p>
            <a:pPr indent="0" marL="0">
              <a:buNone/>
            </a:pPr>
            <a:r>
              <a:rPr lang="en-US" sz="1250" dirty="0">
                <a:solidFill>
                  <a:srgbClr val="53606B"/>
                </a:solidFill>
                <a:latin typeface="Arial" pitchFamily="34" charset="0"/>
                <a:ea typeface="Arial" pitchFamily="34" charset="-122"/>
                <a:cs typeface="Arial" pitchFamily="34" charset="-120"/>
              </a:rPr>
              <a:t>Serbest finansal metinden güvenli ve yapılandırılmış çıktı üretimi</a:t>
            </a:r>
            <a:endParaRPr lang="en-US" sz="1250" dirty="0"/>
          </a:p>
        </p:txBody>
      </p:sp>
      <p:sp>
        <p:nvSpPr>
          <p:cNvPr id="5" name="Shape 2"/>
          <p:cNvSpPr/>
          <p:nvPr/>
        </p:nvSpPr>
        <p:spPr>
          <a:xfrm>
            <a:off x="2331720" y="1892808"/>
            <a:ext cx="210312" cy="0"/>
          </a:xfrm>
          <a:prstGeom prst="line">
            <a:avLst/>
          </a:prstGeom>
          <a:noFill/>
          <a:ln w="22860">
            <a:solidFill>
              <a:srgbClr val="B47A1F"/>
            </a:solidFill>
            <a:prstDash val="solid"/>
            <a:headEnd type="none"/>
            <a:tailEnd type="triangle"/>
          </a:ln>
        </p:spPr>
      </p:sp>
      <p:sp>
        <p:nvSpPr>
          <p:cNvPr id="6" name="Shape 3"/>
          <p:cNvSpPr/>
          <p:nvPr/>
        </p:nvSpPr>
        <p:spPr>
          <a:xfrm>
            <a:off x="4261104" y="1892808"/>
            <a:ext cx="210312" cy="0"/>
          </a:xfrm>
          <a:prstGeom prst="line">
            <a:avLst/>
          </a:prstGeom>
          <a:noFill/>
          <a:ln w="22860">
            <a:solidFill>
              <a:srgbClr val="B47A1F"/>
            </a:solidFill>
            <a:prstDash val="solid"/>
            <a:headEnd type="none"/>
            <a:tailEnd type="triangle"/>
          </a:ln>
        </p:spPr>
      </p:sp>
      <p:sp>
        <p:nvSpPr>
          <p:cNvPr id="7" name="Shape 4"/>
          <p:cNvSpPr/>
          <p:nvPr/>
        </p:nvSpPr>
        <p:spPr>
          <a:xfrm>
            <a:off x="6190488" y="1892808"/>
            <a:ext cx="210312" cy="0"/>
          </a:xfrm>
          <a:prstGeom prst="line">
            <a:avLst/>
          </a:prstGeom>
          <a:noFill/>
          <a:ln w="22860">
            <a:solidFill>
              <a:srgbClr val="B47A1F"/>
            </a:solidFill>
            <a:prstDash val="solid"/>
            <a:headEnd type="none"/>
            <a:tailEnd type="triangle"/>
          </a:ln>
        </p:spPr>
      </p:sp>
      <p:sp>
        <p:nvSpPr>
          <p:cNvPr id="8" name="Shape 5"/>
          <p:cNvSpPr/>
          <p:nvPr/>
        </p:nvSpPr>
        <p:spPr>
          <a:xfrm>
            <a:off x="8119872" y="1892808"/>
            <a:ext cx="210312" cy="0"/>
          </a:xfrm>
          <a:prstGeom prst="line">
            <a:avLst/>
          </a:prstGeom>
          <a:noFill/>
          <a:ln w="22860">
            <a:solidFill>
              <a:srgbClr val="B47A1F"/>
            </a:solidFill>
            <a:prstDash val="solid"/>
            <a:headEnd type="none"/>
            <a:tailEnd type="triangle"/>
          </a:ln>
        </p:spPr>
      </p:sp>
      <p:sp>
        <p:nvSpPr>
          <p:cNvPr id="9" name="Shape 6"/>
          <p:cNvSpPr/>
          <p:nvPr/>
        </p:nvSpPr>
        <p:spPr>
          <a:xfrm>
            <a:off x="10049256" y="1892808"/>
            <a:ext cx="210312" cy="0"/>
          </a:xfrm>
          <a:prstGeom prst="line">
            <a:avLst/>
          </a:prstGeom>
          <a:noFill/>
          <a:ln w="22860">
            <a:solidFill>
              <a:srgbClr val="B47A1F"/>
            </a:solidFill>
            <a:prstDash val="solid"/>
            <a:headEnd type="none"/>
            <a:tailEnd type="triangle"/>
          </a:ln>
        </p:spPr>
      </p:sp>
      <p:sp>
        <p:nvSpPr>
          <p:cNvPr id="10" name="Shape 7"/>
          <p:cNvSpPr/>
          <p:nvPr/>
        </p:nvSpPr>
        <p:spPr>
          <a:xfrm>
            <a:off x="658368" y="1554480"/>
            <a:ext cx="1627632" cy="749808"/>
          </a:xfrm>
          <a:prstGeom prst="roundRect">
            <a:avLst>
              <a:gd name="adj" fmla="val 9756"/>
            </a:avLst>
          </a:prstGeom>
          <a:solidFill>
            <a:srgbClr val="0C3046"/>
          </a:solidFill>
          <a:ln w="12700">
            <a:solidFill>
              <a:srgbClr val="0C3046"/>
            </a:solidFill>
            <a:prstDash val="solid"/>
          </a:ln>
        </p:spPr>
      </p:sp>
      <p:sp>
        <p:nvSpPr>
          <p:cNvPr id="11" name="Text 8"/>
          <p:cNvSpPr/>
          <p:nvPr/>
        </p:nvSpPr>
        <p:spPr>
          <a:xfrm>
            <a:off x="731520" y="1673352"/>
            <a:ext cx="1481328" cy="219456"/>
          </a:xfrm>
          <a:prstGeom prst="rect">
            <a:avLst/>
          </a:prstGeom>
          <a:noFill/>
          <a:ln/>
        </p:spPr>
        <p:txBody>
          <a:bodyPr wrap="square" lIns="0" tIns="0" rIns="0" bIns="0" rtlCol="0" anchor="ctr">
            <a:normAutofit/>
          </a:bodyPr>
          <a:lstStyle/>
          <a:p>
            <a:pPr algn="ctr" indent="0" marL="0">
              <a:buNone/>
            </a:pPr>
            <a:r>
              <a:rPr lang="en-US" sz="1020" b="1" dirty="0">
                <a:solidFill>
                  <a:srgbClr val="FFFFFF"/>
                </a:solidFill>
              </a:rPr>
              <a:t>Serbest Finans</a:t>
            </a:r>
            <a:endParaRPr lang="en-US" sz="1020" dirty="0"/>
          </a:p>
          <a:p>
            <a:pPr algn="ctr" indent="0" marL="0">
              <a:buNone/>
            </a:pPr>
            <a:r>
              <a:rPr lang="en-US" sz="1020" b="1" dirty="0">
                <a:solidFill>
                  <a:srgbClr val="FFFFFF"/>
                </a:solidFill>
              </a:rPr>
              <a:t>Metni</a:t>
            </a:r>
            <a:endParaRPr lang="en-US" sz="1020" dirty="0"/>
          </a:p>
        </p:txBody>
      </p:sp>
      <p:sp>
        <p:nvSpPr>
          <p:cNvPr id="12" name="Text 9"/>
          <p:cNvSpPr/>
          <p:nvPr/>
        </p:nvSpPr>
        <p:spPr>
          <a:xfrm>
            <a:off x="731520" y="1929384"/>
            <a:ext cx="1481328" cy="164592"/>
          </a:xfrm>
          <a:prstGeom prst="rect">
            <a:avLst/>
          </a:prstGeom>
          <a:noFill/>
          <a:ln/>
        </p:spPr>
        <p:txBody>
          <a:bodyPr wrap="square" lIns="0" tIns="0" rIns="0" bIns="0" rtlCol="0" anchor="ctr">
            <a:normAutofit/>
          </a:bodyPr>
          <a:lstStyle/>
          <a:p>
            <a:pPr algn="ctr" indent="0" marL="0">
              <a:buNone/>
            </a:pPr>
            <a:r>
              <a:rPr lang="en-US" sz="770" dirty="0">
                <a:solidFill>
                  <a:srgbClr val="FFFFFF"/>
                </a:solidFill>
              </a:rPr>
              <a:t>Banka metni</a:t>
            </a:r>
            <a:endParaRPr lang="en-US" sz="770" dirty="0"/>
          </a:p>
        </p:txBody>
      </p:sp>
      <p:sp>
        <p:nvSpPr>
          <p:cNvPr id="13" name="Shape 10"/>
          <p:cNvSpPr/>
          <p:nvPr/>
        </p:nvSpPr>
        <p:spPr>
          <a:xfrm>
            <a:off x="2587752" y="1554480"/>
            <a:ext cx="1627632" cy="749808"/>
          </a:xfrm>
          <a:prstGeom prst="roundRect">
            <a:avLst>
              <a:gd name="adj" fmla="val 9756"/>
            </a:avLst>
          </a:prstGeom>
          <a:solidFill>
            <a:srgbClr val="B47A1F"/>
          </a:solidFill>
          <a:ln w="12700">
            <a:solidFill>
              <a:srgbClr val="B47A1F"/>
            </a:solidFill>
            <a:prstDash val="solid"/>
          </a:ln>
        </p:spPr>
      </p:sp>
      <p:sp>
        <p:nvSpPr>
          <p:cNvPr id="14" name="Text 11"/>
          <p:cNvSpPr/>
          <p:nvPr/>
        </p:nvSpPr>
        <p:spPr>
          <a:xfrm>
            <a:off x="2660904" y="1673352"/>
            <a:ext cx="1481328" cy="219456"/>
          </a:xfrm>
          <a:prstGeom prst="rect">
            <a:avLst/>
          </a:prstGeom>
          <a:noFill/>
          <a:ln/>
        </p:spPr>
        <p:txBody>
          <a:bodyPr wrap="square" lIns="0" tIns="0" rIns="0" bIns="0" rtlCol="0" anchor="ctr">
            <a:normAutofit/>
          </a:bodyPr>
          <a:lstStyle/>
          <a:p>
            <a:pPr algn="ctr" indent="0" marL="0">
              <a:buNone/>
            </a:pPr>
            <a:r>
              <a:rPr lang="en-US" sz="1020" b="1" dirty="0">
                <a:solidFill>
                  <a:srgbClr val="FFFFFF"/>
                </a:solidFill>
              </a:rPr>
              <a:t>Qwen3-Coder</a:t>
            </a:r>
            <a:endParaRPr lang="en-US" sz="1020" dirty="0"/>
          </a:p>
          <a:p>
            <a:pPr algn="ctr" indent="0" marL="0">
              <a:buNone/>
            </a:pPr>
            <a:r>
              <a:rPr lang="en-US" sz="1020" b="1" dirty="0">
                <a:solidFill>
                  <a:srgbClr val="FFFFFF"/>
                </a:solidFill>
              </a:rPr>
              <a:t>Next</a:t>
            </a:r>
            <a:endParaRPr lang="en-US" sz="1020" dirty="0"/>
          </a:p>
        </p:txBody>
      </p:sp>
      <p:sp>
        <p:nvSpPr>
          <p:cNvPr id="15" name="Text 12"/>
          <p:cNvSpPr/>
          <p:nvPr/>
        </p:nvSpPr>
        <p:spPr>
          <a:xfrm>
            <a:off x="2660904" y="1929384"/>
            <a:ext cx="1481328" cy="164592"/>
          </a:xfrm>
          <a:prstGeom prst="rect">
            <a:avLst/>
          </a:prstGeom>
          <a:noFill/>
          <a:ln/>
        </p:spPr>
        <p:txBody>
          <a:bodyPr wrap="square" lIns="0" tIns="0" rIns="0" bIns="0" rtlCol="0" anchor="ctr">
            <a:normAutofit/>
          </a:bodyPr>
          <a:lstStyle/>
          <a:p>
            <a:pPr algn="ctr" indent="0" marL="0">
              <a:buNone/>
            </a:pPr>
            <a:r>
              <a:rPr lang="en-US" sz="770" dirty="0">
                <a:solidFill>
                  <a:srgbClr val="FFFFFF"/>
                </a:solidFill>
              </a:rPr>
              <a:t>kod üretir</a:t>
            </a:r>
            <a:endParaRPr lang="en-US" sz="770" dirty="0"/>
          </a:p>
        </p:txBody>
      </p:sp>
      <p:sp>
        <p:nvSpPr>
          <p:cNvPr id="16" name="Shape 13"/>
          <p:cNvSpPr/>
          <p:nvPr/>
        </p:nvSpPr>
        <p:spPr>
          <a:xfrm>
            <a:off x="4517136" y="1554480"/>
            <a:ext cx="1627632" cy="749808"/>
          </a:xfrm>
          <a:prstGeom prst="roundRect">
            <a:avLst>
              <a:gd name="adj" fmla="val 9756"/>
            </a:avLst>
          </a:prstGeom>
          <a:solidFill>
            <a:srgbClr val="0C3046"/>
          </a:solidFill>
          <a:ln w="12700">
            <a:solidFill>
              <a:srgbClr val="0C3046"/>
            </a:solidFill>
            <a:prstDash val="solid"/>
          </a:ln>
        </p:spPr>
      </p:sp>
      <p:sp>
        <p:nvSpPr>
          <p:cNvPr id="17" name="Text 14"/>
          <p:cNvSpPr/>
          <p:nvPr/>
        </p:nvSpPr>
        <p:spPr>
          <a:xfrm>
            <a:off x="4590288" y="1673352"/>
            <a:ext cx="1481328" cy="219456"/>
          </a:xfrm>
          <a:prstGeom prst="rect">
            <a:avLst/>
          </a:prstGeom>
          <a:noFill/>
          <a:ln/>
        </p:spPr>
        <p:txBody>
          <a:bodyPr wrap="square" lIns="0" tIns="0" rIns="0" bIns="0" rtlCol="0" anchor="ctr">
            <a:normAutofit/>
          </a:bodyPr>
          <a:lstStyle/>
          <a:p>
            <a:pPr algn="ctr" indent="0" marL="0">
              <a:buNone/>
            </a:pPr>
            <a:r>
              <a:rPr lang="en-US" sz="1020" b="1" dirty="0">
                <a:solidFill>
                  <a:srgbClr val="FFFFFF"/>
                </a:solidFill>
              </a:rPr>
              <a:t>Python + Regex</a:t>
            </a:r>
            <a:endParaRPr lang="en-US" sz="1020" dirty="0"/>
          </a:p>
          <a:p>
            <a:pPr algn="ctr" indent="0" marL="0">
              <a:buNone/>
            </a:pPr>
            <a:r>
              <a:rPr lang="en-US" sz="1020" b="1" dirty="0">
                <a:solidFill>
                  <a:srgbClr val="FFFFFF"/>
                </a:solidFill>
              </a:rPr>
              <a:t>Programı</a:t>
            </a:r>
            <a:endParaRPr lang="en-US" sz="1020" dirty="0"/>
          </a:p>
        </p:txBody>
      </p:sp>
      <p:sp>
        <p:nvSpPr>
          <p:cNvPr id="18" name="Text 15"/>
          <p:cNvSpPr/>
          <p:nvPr/>
        </p:nvSpPr>
        <p:spPr>
          <a:xfrm>
            <a:off x="4590288" y="1929384"/>
            <a:ext cx="1481328" cy="164592"/>
          </a:xfrm>
          <a:prstGeom prst="rect">
            <a:avLst/>
          </a:prstGeom>
          <a:noFill/>
          <a:ln/>
        </p:spPr>
        <p:txBody>
          <a:bodyPr wrap="square" lIns="0" tIns="0" rIns="0" bIns="0" rtlCol="0" anchor="ctr">
            <a:normAutofit/>
          </a:bodyPr>
          <a:lstStyle/>
          <a:p>
            <a:pPr algn="ctr" indent="0" marL="0">
              <a:buNone/>
            </a:pPr>
            <a:r>
              <a:rPr lang="en-US" sz="770" dirty="0">
                <a:solidFill>
                  <a:srgbClr val="FFFFFF"/>
                </a:solidFill>
              </a:rPr>
              <a:t>metne özel</a:t>
            </a:r>
            <a:endParaRPr lang="en-US" sz="770" dirty="0"/>
          </a:p>
        </p:txBody>
      </p:sp>
      <p:sp>
        <p:nvSpPr>
          <p:cNvPr id="19" name="Shape 16"/>
          <p:cNvSpPr/>
          <p:nvPr/>
        </p:nvSpPr>
        <p:spPr>
          <a:xfrm>
            <a:off x="6446520" y="1554480"/>
            <a:ext cx="1627632" cy="749808"/>
          </a:xfrm>
          <a:prstGeom prst="roundRect">
            <a:avLst>
              <a:gd name="adj" fmla="val 9756"/>
            </a:avLst>
          </a:prstGeom>
          <a:solidFill>
            <a:srgbClr val="B47A1F"/>
          </a:solidFill>
          <a:ln w="12700">
            <a:solidFill>
              <a:srgbClr val="B47A1F"/>
            </a:solidFill>
            <a:prstDash val="solid"/>
          </a:ln>
        </p:spPr>
      </p:sp>
      <p:sp>
        <p:nvSpPr>
          <p:cNvPr id="20" name="Text 17"/>
          <p:cNvSpPr/>
          <p:nvPr/>
        </p:nvSpPr>
        <p:spPr>
          <a:xfrm>
            <a:off x="6519672" y="1673352"/>
            <a:ext cx="1481328" cy="219456"/>
          </a:xfrm>
          <a:prstGeom prst="rect">
            <a:avLst/>
          </a:prstGeom>
          <a:noFill/>
          <a:ln/>
        </p:spPr>
        <p:txBody>
          <a:bodyPr wrap="square" lIns="0" tIns="0" rIns="0" bIns="0" rtlCol="0" anchor="ctr">
            <a:normAutofit/>
          </a:bodyPr>
          <a:lstStyle/>
          <a:p>
            <a:pPr algn="ctr" indent="0" marL="0">
              <a:buNone/>
            </a:pPr>
            <a:r>
              <a:rPr lang="en-US" sz="1020" b="1" dirty="0">
                <a:solidFill>
                  <a:srgbClr val="FFFFFF"/>
                </a:solidFill>
              </a:rPr>
              <a:t>AST Güvenlik</a:t>
            </a:r>
            <a:endParaRPr lang="en-US" sz="1020" dirty="0"/>
          </a:p>
          <a:p>
            <a:pPr algn="ctr" indent="0" marL="0">
              <a:buNone/>
            </a:pPr>
            <a:r>
              <a:rPr lang="en-US" sz="1020" b="1" dirty="0">
                <a:solidFill>
                  <a:srgbClr val="FFFFFF"/>
                </a:solidFill>
              </a:rPr>
              <a:t>Kontrolü</a:t>
            </a:r>
            <a:endParaRPr lang="en-US" sz="1020" dirty="0"/>
          </a:p>
        </p:txBody>
      </p:sp>
      <p:sp>
        <p:nvSpPr>
          <p:cNvPr id="21" name="Text 18"/>
          <p:cNvSpPr/>
          <p:nvPr/>
        </p:nvSpPr>
        <p:spPr>
          <a:xfrm>
            <a:off x="6519672" y="1929384"/>
            <a:ext cx="1481328" cy="164592"/>
          </a:xfrm>
          <a:prstGeom prst="rect">
            <a:avLst/>
          </a:prstGeom>
          <a:noFill/>
          <a:ln/>
        </p:spPr>
        <p:txBody>
          <a:bodyPr wrap="square" lIns="0" tIns="0" rIns="0" bIns="0" rtlCol="0" anchor="ctr">
            <a:normAutofit/>
          </a:bodyPr>
          <a:lstStyle/>
          <a:p>
            <a:pPr algn="ctr" indent="0" marL="0">
              <a:buNone/>
            </a:pPr>
            <a:r>
              <a:rPr lang="en-US" sz="770" dirty="0">
                <a:solidFill>
                  <a:srgbClr val="FFFFFF"/>
                </a:solidFill>
              </a:rPr>
              <a:t>statik analiz</a:t>
            </a:r>
            <a:endParaRPr lang="en-US" sz="770" dirty="0"/>
          </a:p>
        </p:txBody>
      </p:sp>
      <p:sp>
        <p:nvSpPr>
          <p:cNvPr id="22" name="Shape 19"/>
          <p:cNvSpPr/>
          <p:nvPr/>
        </p:nvSpPr>
        <p:spPr>
          <a:xfrm>
            <a:off x="8375904" y="1554480"/>
            <a:ext cx="1627632" cy="749808"/>
          </a:xfrm>
          <a:prstGeom prst="roundRect">
            <a:avLst>
              <a:gd name="adj" fmla="val 9756"/>
            </a:avLst>
          </a:prstGeom>
          <a:solidFill>
            <a:srgbClr val="0C3046"/>
          </a:solidFill>
          <a:ln w="12700">
            <a:solidFill>
              <a:srgbClr val="0C3046"/>
            </a:solidFill>
            <a:prstDash val="solid"/>
          </a:ln>
        </p:spPr>
      </p:sp>
      <p:sp>
        <p:nvSpPr>
          <p:cNvPr id="23" name="Text 20"/>
          <p:cNvSpPr/>
          <p:nvPr/>
        </p:nvSpPr>
        <p:spPr>
          <a:xfrm>
            <a:off x="8449056" y="1673352"/>
            <a:ext cx="1481328" cy="219456"/>
          </a:xfrm>
          <a:prstGeom prst="rect">
            <a:avLst/>
          </a:prstGeom>
          <a:noFill/>
          <a:ln/>
        </p:spPr>
        <p:txBody>
          <a:bodyPr wrap="square" lIns="0" tIns="0" rIns="0" bIns="0" rtlCol="0" anchor="ctr">
            <a:normAutofit/>
          </a:bodyPr>
          <a:lstStyle/>
          <a:p>
            <a:pPr algn="ctr" indent="0" marL="0">
              <a:buNone/>
            </a:pPr>
            <a:r>
              <a:rPr lang="en-US" sz="1020" b="1" dirty="0">
                <a:solidFill>
                  <a:srgbClr val="FFFFFF"/>
                </a:solidFill>
              </a:rPr>
              <a:t>İzole</a:t>
            </a:r>
            <a:endParaRPr lang="en-US" sz="1020" dirty="0"/>
          </a:p>
          <a:p>
            <a:pPr algn="ctr" indent="0" marL="0">
              <a:buNone/>
            </a:pPr>
            <a:r>
              <a:rPr lang="en-US" sz="1020" b="1" dirty="0">
                <a:solidFill>
                  <a:srgbClr val="FFFFFF"/>
                </a:solidFill>
              </a:rPr>
              <a:t>Çalıştırma</a:t>
            </a:r>
            <a:endParaRPr lang="en-US" sz="1020" dirty="0"/>
          </a:p>
        </p:txBody>
      </p:sp>
      <p:sp>
        <p:nvSpPr>
          <p:cNvPr id="24" name="Text 21"/>
          <p:cNvSpPr/>
          <p:nvPr/>
        </p:nvSpPr>
        <p:spPr>
          <a:xfrm>
            <a:off x="8449056" y="1929384"/>
            <a:ext cx="1481328" cy="164592"/>
          </a:xfrm>
          <a:prstGeom prst="rect">
            <a:avLst/>
          </a:prstGeom>
          <a:noFill/>
          <a:ln/>
        </p:spPr>
        <p:txBody>
          <a:bodyPr wrap="square" lIns="0" tIns="0" rIns="0" bIns="0" rtlCol="0" anchor="ctr">
            <a:normAutofit/>
          </a:bodyPr>
          <a:lstStyle/>
          <a:p>
            <a:pPr algn="ctr" indent="0" marL="0">
              <a:buNone/>
            </a:pPr>
            <a:r>
              <a:rPr lang="en-US" sz="770" dirty="0">
                <a:solidFill>
                  <a:srgbClr val="FFFFFF"/>
                </a:solidFill>
              </a:rPr>
              <a:t>subprocess</a:t>
            </a:r>
            <a:endParaRPr lang="en-US" sz="770" dirty="0"/>
          </a:p>
        </p:txBody>
      </p:sp>
      <p:sp>
        <p:nvSpPr>
          <p:cNvPr id="25" name="Shape 22"/>
          <p:cNvSpPr/>
          <p:nvPr/>
        </p:nvSpPr>
        <p:spPr>
          <a:xfrm>
            <a:off x="10305288" y="1554480"/>
            <a:ext cx="1627632" cy="749808"/>
          </a:xfrm>
          <a:prstGeom prst="roundRect">
            <a:avLst>
              <a:gd name="adj" fmla="val 9756"/>
            </a:avLst>
          </a:prstGeom>
          <a:solidFill>
            <a:srgbClr val="B47A1F"/>
          </a:solidFill>
          <a:ln w="12700">
            <a:solidFill>
              <a:srgbClr val="B47A1F"/>
            </a:solidFill>
            <a:prstDash val="solid"/>
          </a:ln>
        </p:spPr>
      </p:sp>
      <p:sp>
        <p:nvSpPr>
          <p:cNvPr id="26" name="Text 23"/>
          <p:cNvSpPr/>
          <p:nvPr/>
        </p:nvSpPr>
        <p:spPr>
          <a:xfrm>
            <a:off x="10378440" y="1673352"/>
            <a:ext cx="1481328" cy="219456"/>
          </a:xfrm>
          <a:prstGeom prst="rect">
            <a:avLst/>
          </a:prstGeom>
          <a:noFill/>
          <a:ln/>
        </p:spPr>
        <p:txBody>
          <a:bodyPr wrap="square" lIns="0" tIns="0" rIns="0" bIns="0" rtlCol="0" anchor="ctr">
            <a:normAutofit/>
          </a:bodyPr>
          <a:lstStyle/>
          <a:p>
            <a:pPr algn="ctr" indent="0" marL="0">
              <a:buNone/>
            </a:pPr>
            <a:r>
              <a:rPr lang="en-US" sz="1020" b="1" dirty="0">
                <a:solidFill>
                  <a:srgbClr val="FFFFFF"/>
                </a:solidFill>
              </a:rPr>
              <a:t>9 Alanlık</a:t>
            </a:r>
            <a:endParaRPr lang="en-US" sz="1020" dirty="0"/>
          </a:p>
          <a:p>
            <a:pPr algn="ctr" indent="0" marL="0">
              <a:buNone/>
            </a:pPr>
            <a:r>
              <a:rPr lang="en-US" sz="1020" b="1" dirty="0">
                <a:solidFill>
                  <a:srgbClr val="FFFFFF"/>
                </a:solidFill>
              </a:rPr>
              <a:t>JSON</a:t>
            </a:r>
            <a:endParaRPr lang="en-US" sz="1020" dirty="0"/>
          </a:p>
        </p:txBody>
      </p:sp>
      <p:sp>
        <p:nvSpPr>
          <p:cNvPr id="27" name="Text 24"/>
          <p:cNvSpPr/>
          <p:nvPr/>
        </p:nvSpPr>
        <p:spPr>
          <a:xfrm>
            <a:off x="10378440" y="1929384"/>
            <a:ext cx="1481328" cy="164592"/>
          </a:xfrm>
          <a:prstGeom prst="rect">
            <a:avLst/>
          </a:prstGeom>
          <a:noFill/>
          <a:ln/>
        </p:spPr>
        <p:txBody>
          <a:bodyPr wrap="square" lIns="0" tIns="0" rIns="0" bIns="0" rtlCol="0" anchor="ctr">
            <a:normAutofit/>
          </a:bodyPr>
          <a:lstStyle/>
          <a:p>
            <a:pPr algn="ctr" indent="0" marL="0">
              <a:buNone/>
            </a:pPr>
            <a:r>
              <a:rPr lang="en-US" sz="770" dirty="0">
                <a:solidFill>
                  <a:srgbClr val="FFFFFF"/>
                </a:solidFill>
              </a:rPr>
              <a:t>yapılandırılmış</a:t>
            </a:r>
            <a:endParaRPr lang="en-US" sz="770" dirty="0"/>
          </a:p>
        </p:txBody>
      </p:sp>
      <p:sp>
        <p:nvSpPr>
          <p:cNvPr id="28" name="Shape 25"/>
          <p:cNvSpPr/>
          <p:nvPr/>
        </p:nvSpPr>
        <p:spPr>
          <a:xfrm>
            <a:off x="822960" y="2788920"/>
            <a:ext cx="3246120" cy="1170432"/>
          </a:xfrm>
          <a:prstGeom prst="roundRect">
            <a:avLst>
              <a:gd name="adj" fmla="val 7813"/>
            </a:avLst>
          </a:prstGeom>
          <a:solidFill>
            <a:srgbClr val="F6F4ED"/>
          </a:solidFill>
          <a:ln w="12700">
            <a:solidFill>
              <a:srgbClr val="D5DCE3">
                <a:alpha val="85000"/>
              </a:srgbClr>
            </a:solidFill>
            <a:prstDash val="solid"/>
          </a:ln>
        </p:spPr>
      </p:sp>
      <p:sp>
        <p:nvSpPr>
          <p:cNvPr id="29" name="Shape 26"/>
          <p:cNvSpPr/>
          <p:nvPr/>
        </p:nvSpPr>
        <p:spPr>
          <a:xfrm>
            <a:off x="987552" y="2953512"/>
            <a:ext cx="310896" cy="310896"/>
          </a:xfrm>
          <a:prstGeom prst="ellipse">
            <a:avLst/>
          </a:prstGeom>
          <a:solidFill>
            <a:srgbClr val="B47A1F"/>
          </a:solidFill>
          <a:ln w="12700">
            <a:solidFill>
              <a:srgbClr val="B47A1F"/>
            </a:solidFill>
            <a:prstDash val="solid"/>
          </a:ln>
        </p:spPr>
      </p:sp>
      <p:sp>
        <p:nvSpPr>
          <p:cNvPr id="30" name="Text 27"/>
          <p:cNvSpPr/>
          <p:nvPr/>
        </p:nvSpPr>
        <p:spPr>
          <a:xfrm>
            <a:off x="987552" y="3012948"/>
            <a:ext cx="310896" cy="109728"/>
          </a:xfrm>
          <a:prstGeom prst="rect">
            <a:avLst/>
          </a:prstGeom>
          <a:noFill/>
          <a:ln/>
        </p:spPr>
        <p:txBody>
          <a:bodyPr wrap="square" lIns="0" tIns="0" rIns="0" bIns="0" rtlCol="0" anchor="ctr"/>
          <a:lstStyle/>
          <a:p>
            <a:pPr algn="ctr" indent="0" marL="0">
              <a:buNone/>
            </a:pPr>
            <a:r>
              <a:rPr lang="en-US" sz="1100" b="1" dirty="0">
                <a:solidFill>
                  <a:srgbClr val="FFFFFF"/>
                </a:solidFill>
              </a:rPr>
              <a:t>AI</a:t>
            </a:r>
            <a:endParaRPr lang="en-US" sz="1100" dirty="0"/>
          </a:p>
        </p:txBody>
      </p:sp>
      <p:sp>
        <p:nvSpPr>
          <p:cNvPr id="31" name="Text 28"/>
          <p:cNvSpPr/>
          <p:nvPr/>
        </p:nvSpPr>
        <p:spPr>
          <a:xfrm>
            <a:off x="1399032" y="2962656"/>
            <a:ext cx="2487168" cy="228600"/>
          </a:xfrm>
          <a:prstGeom prst="rect">
            <a:avLst/>
          </a:prstGeom>
          <a:noFill/>
          <a:ln/>
        </p:spPr>
        <p:txBody>
          <a:bodyPr wrap="square" lIns="0" tIns="0" rIns="0" bIns="0" rtlCol="0" anchor="ctr">
            <a:normAutofit/>
          </a:bodyPr>
          <a:lstStyle/>
          <a:p>
            <a:pPr indent="0" marL="0">
              <a:buNone/>
            </a:pPr>
            <a:r>
              <a:rPr lang="en-US" sz="1450" b="1" dirty="0">
                <a:solidFill>
                  <a:srgbClr val="0C3046"/>
                </a:solidFill>
              </a:rPr>
              <a:t>AI Modeli</a:t>
            </a:r>
            <a:endParaRPr lang="en-US" sz="1450" dirty="0"/>
          </a:p>
        </p:txBody>
      </p:sp>
      <p:sp>
        <p:nvSpPr>
          <p:cNvPr id="32" name="Text 29"/>
          <p:cNvSpPr/>
          <p:nvPr/>
        </p:nvSpPr>
        <p:spPr>
          <a:xfrm>
            <a:off x="1051560" y="3319272"/>
            <a:ext cx="2788920" cy="530352"/>
          </a:xfrm>
          <a:prstGeom prst="rect">
            <a:avLst/>
          </a:prstGeom>
          <a:noFill/>
          <a:ln/>
        </p:spPr>
        <p:txBody>
          <a:bodyPr wrap="square" lIns="254" tIns="254" rIns="254" bIns="254" rtlCol="0" anchor="t">
            <a:normAutofit/>
          </a:bodyPr>
          <a:lstStyle/>
          <a:p>
            <a:pPr indent="0" marL="0">
              <a:buNone/>
            </a:pPr>
            <a:r>
              <a:rPr lang="en-US" sz="1050" dirty="0">
                <a:solidFill>
                  <a:srgbClr val="17212B"/>
                </a:solidFill>
              </a:rPr>
              <a:t>Değeri doğrudan tahmin etmek yerine, o metne özel çıkarım kodu üretir.</a:t>
            </a:r>
            <a:endParaRPr lang="en-US" sz="1050" dirty="0"/>
          </a:p>
        </p:txBody>
      </p:sp>
      <p:sp>
        <p:nvSpPr>
          <p:cNvPr id="33" name="Shape 30"/>
          <p:cNvSpPr/>
          <p:nvPr/>
        </p:nvSpPr>
        <p:spPr>
          <a:xfrm>
            <a:off x="4434840" y="2788920"/>
            <a:ext cx="3246120" cy="1170432"/>
          </a:xfrm>
          <a:prstGeom prst="roundRect">
            <a:avLst>
              <a:gd name="adj" fmla="val 7813"/>
            </a:avLst>
          </a:prstGeom>
          <a:solidFill>
            <a:srgbClr val="F4F7FA"/>
          </a:solidFill>
          <a:ln w="12700">
            <a:solidFill>
              <a:srgbClr val="D5DCE3">
                <a:alpha val="85000"/>
              </a:srgbClr>
            </a:solidFill>
            <a:prstDash val="solid"/>
          </a:ln>
        </p:spPr>
      </p:sp>
      <p:sp>
        <p:nvSpPr>
          <p:cNvPr id="34" name="Shape 31"/>
          <p:cNvSpPr/>
          <p:nvPr/>
        </p:nvSpPr>
        <p:spPr>
          <a:xfrm>
            <a:off x="4599432" y="2953512"/>
            <a:ext cx="310896" cy="310896"/>
          </a:xfrm>
          <a:prstGeom prst="ellipse">
            <a:avLst/>
          </a:prstGeom>
          <a:solidFill>
            <a:srgbClr val="0C3046"/>
          </a:solidFill>
          <a:ln w="12700">
            <a:solidFill>
              <a:srgbClr val="0C3046"/>
            </a:solidFill>
            <a:prstDash val="solid"/>
          </a:ln>
        </p:spPr>
      </p:sp>
      <p:sp>
        <p:nvSpPr>
          <p:cNvPr id="35" name="Text 32"/>
          <p:cNvSpPr/>
          <p:nvPr/>
        </p:nvSpPr>
        <p:spPr>
          <a:xfrm>
            <a:off x="4599432" y="3012948"/>
            <a:ext cx="310896" cy="109728"/>
          </a:xfrm>
          <a:prstGeom prst="rect">
            <a:avLst/>
          </a:prstGeom>
          <a:noFill/>
          <a:ln/>
        </p:spPr>
        <p:txBody>
          <a:bodyPr wrap="square" lIns="0" tIns="0" rIns="0" bIns="0" rtlCol="0" anchor="ctr"/>
          <a:lstStyle/>
          <a:p>
            <a:pPr algn="ctr" indent="0" marL="0">
              <a:buNone/>
            </a:pPr>
            <a:r>
              <a:rPr lang="en-US" sz="1100" b="1" dirty="0">
                <a:solidFill>
                  <a:srgbClr val="FFFFFF"/>
                </a:solidFill>
              </a:rPr>
              <a:t>🔒</a:t>
            </a:r>
            <a:endParaRPr lang="en-US" sz="1100" dirty="0"/>
          </a:p>
        </p:txBody>
      </p:sp>
      <p:sp>
        <p:nvSpPr>
          <p:cNvPr id="36" name="Text 33"/>
          <p:cNvSpPr/>
          <p:nvPr/>
        </p:nvSpPr>
        <p:spPr>
          <a:xfrm>
            <a:off x="5010912" y="2962656"/>
            <a:ext cx="2487168" cy="228600"/>
          </a:xfrm>
          <a:prstGeom prst="rect">
            <a:avLst/>
          </a:prstGeom>
          <a:noFill/>
          <a:ln/>
        </p:spPr>
        <p:txBody>
          <a:bodyPr wrap="square" lIns="0" tIns="0" rIns="0" bIns="0" rtlCol="0" anchor="ctr">
            <a:normAutofit/>
          </a:bodyPr>
          <a:lstStyle/>
          <a:p>
            <a:pPr indent="0" marL="0">
              <a:buNone/>
            </a:pPr>
            <a:r>
              <a:rPr lang="en-US" sz="1450" b="1" dirty="0">
                <a:solidFill>
                  <a:srgbClr val="0C3046"/>
                </a:solidFill>
              </a:rPr>
              <a:t>Güvenlik</a:t>
            </a:r>
            <a:endParaRPr lang="en-US" sz="1450" dirty="0"/>
          </a:p>
        </p:txBody>
      </p:sp>
      <p:sp>
        <p:nvSpPr>
          <p:cNvPr id="37" name="Text 34"/>
          <p:cNvSpPr/>
          <p:nvPr/>
        </p:nvSpPr>
        <p:spPr>
          <a:xfrm>
            <a:off x="4663440" y="3319272"/>
            <a:ext cx="2788920" cy="530352"/>
          </a:xfrm>
          <a:prstGeom prst="rect">
            <a:avLst/>
          </a:prstGeom>
          <a:noFill/>
          <a:ln/>
        </p:spPr>
        <p:txBody>
          <a:bodyPr wrap="square" lIns="254" tIns="254" rIns="254" bIns="254" rtlCol="0" anchor="t">
            <a:normAutofit/>
          </a:bodyPr>
          <a:lstStyle/>
          <a:p>
            <a:pPr indent="0" marL="0">
              <a:buNone/>
            </a:pPr>
            <a:r>
              <a:rPr lang="en-US" sz="1050" dirty="0">
                <a:solidFill>
                  <a:srgbClr val="17212B"/>
                </a:solidFill>
              </a:rPr>
              <a:t>Üretilen kod çalıştırılmadan önce AST tabanlı güvenlik kontrolünden geçirilir.</a:t>
            </a:r>
            <a:endParaRPr lang="en-US" sz="1050" dirty="0"/>
          </a:p>
        </p:txBody>
      </p:sp>
      <p:sp>
        <p:nvSpPr>
          <p:cNvPr id="38" name="Shape 35"/>
          <p:cNvSpPr/>
          <p:nvPr/>
        </p:nvSpPr>
        <p:spPr>
          <a:xfrm>
            <a:off x="8046720" y="2788920"/>
            <a:ext cx="3246120" cy="1170432"/>
          </a:xfrm>
          <a:prstGeom prst="roundRect">
            <a:avLst>
              <a:gd name="adj" fmla="val 7813"/>
            </a:avLst>
          </a:prstGeom>
          <a:solidFill>
            <a:srgbClr val="F6F4ED"/>
          </a:solidFill>
          <a:ln w="12700">
            <a:solidFill>
              <a:srgbClr val="D5DCE3">
                <a:alpha val="85000"/>
              </a:srgbClr>
            </a:solidFill>
            <a:prstDash val="solid"/>
          </a:ln>
        </p:spPr>
      </p:sp>
      <p:sp>
        <p:nvSpPr>
          <p:cNvPr id="39" name="Shape 36"/>
          <p:cNvSpPr/>
          <p:nvPr/>
        </p:nvSpPr>
        <p:spPr>
          <a:xfrm>
            <a:off x="8211312" y="2953512"/>
            <a:ext cx="310896" cy="310896"/>
          </a:xfrm>
          <a:prstGeom prst="ellipse">
            <a:avLst/>
          </a:prstGeom>
          <a:solidFill>
            <a:srgbClr val="B47A1F"/>
          </a:solidFill>
          <a:ln w="12700">
            <a:solidFill>
              <a:srgbClr val="B47A1F"/>
            </a:solidFill>
            <a:prstDash val="solid"/>
          </a:ln>
        </p:spPr>
      </p:sp>
      <p:sp>
        <p:nvSpPr>
          <p:cNvPr id="40" name="Text 37"/>
          <p:cNvSpPr/>
          <p:nvPr/>
        </p:nvSpPr>
        <p:spPr>
          <a:xfrm>
            <a:off x="8211312" y="3012948"/>
            <a:ext cx="310896" cy="109728"/>
          </a:xfrm>
          <a:prstGeom prst="rect">
            <a:avLst/>
          </a:prstGeom>
          <a:noFill/>
          <a:ln/>
        </p:spPr>
        <p:txBody>
          <a:bodyPr wrap="square" lIns="0" tIns="0" rIns="0" bIns="0" rtlCol="0" anchor="ctr"/>
          <a:lstStyle/>
          <a:p>
            <a:pPr algn="ctr" indent="0" marL="0">
              <a:buNone/>
            </a:pPr>
            <a:r>
              <a:rPr lang="en-US" sz="1100" b="1" dirty="0">
                <a:solidFill>
                  <a:srgbClr val="FFFFFF"/>
                </a:solidFill>
              </a:rPr>
              <a:t>∅</a:t>
            </a:r>
            <a:endParaRPr lang="en-US" sz="1100" dirty="0"/>
          </a:p>
        </p:txBody>
      </p:sp>
      <p:sp>
        <p:nvSpPr>
          <p:cNvPr id="41" name="Text 38"/>
          <p:cNvSpPr/>
          <p:nvPr/>
        </p:nvSpPr>
        <p:spPr>
          <a:xfrm>
            <a:off x="8622792" y="2962656"/>
            <a:ext cx="2487168" cy="228600"/>
          </a:xfrm>
          <a:prstGeom prst="rect">
            <a:avLst/>
          </a:prstGeom>
          <a:noFill/>
          <a:ln/>
        </p:spPr>
        <p:txBody>
          <a:bodyPr wrap="square" lIns="0" tIns="0" rIns="0" bIns="0" rtlCol="0" anchor="ctr">
            <a:normAutofit/>
          </a:bodyPr>
          <a:lstStyle/>
          <a:p>
            <a:pPr indent="0" marL="0">
              <a:buNone/>
            </a:pPr>
            <a:r>
              <a:rPr lang="en-US" sz="1450" b="1" dirty="0">
                <a:solidFill>
                  <a:srgbClr val="0C3046"/>
                </a:solidFill>
              </a:rPr>
              <a:t>Eksik Veri</a:t>
            </a:r>
            <a:endParaRPr lang="en-US" sz="1450" dirty="0"/>
          </a:p>
        </p:txBody>
      </p:sp>
      <p:sp>
        <p:nvSpPr>
          <p:cNvPr id="42" name="Text 39"/>
          <p:cNvSpPr/>
          <p:nvPr/>
        </p:nvSpPr>
        <p:spPr>
          <a:xfrm>
            <a:off x="8275320" y="3319272"/>
            <a:ext cx="2788920" cy="530352"/>
          </a:xfrm>
          <a:prstGeom prst="rect">
            <a:avLst/>
          </a:prstGeom>
          <a:noFill/>
          <a:ln/>
        </p:spPr>
        <p:txBody>
          <a:bodyPr wrap="square" lIns="254" tIns="254" rIns="254" bIns="254" rtlCol="0" anchor="t">
            <a:normAutofit/>
          </a:bodyPr>
          <a:lstStyle/>
          <a:p>
            <a:pPr indent="0" marL="0">
              <a:buNone/>
            </a:pPr>
            <a:r>
              <a:rPr lang="en-US" sz="1050" dirty="0">
                <a:solidFill>
                  <a:srgbClr val="17212B"/>
                </a:solidFill>
              </a:rPr>
              <a:t>Kaynak metinde bulunmayan bilgi tahmin edilmez; alan boş bırakılır.</a:t>
            </a:r>
            <a:endParaRPr lang="en-US" sz="1050" dirty="0"/>
          </a:p>
        </p:txBody>
      </p:sp>
      <p:sp>
        <p:nvSpPr>
          <p:cNvPr id="43" name="Text 40"/>
          <p:cNvSpPr/>
          <p:nvPr/>
        </p:nvSpPr>
        <p:spPr>
          <a:xfrm>
            <a:off x="960120" y="4133088"/>
            <a:ext cx="1371600" cy="201168"/>
          </a:xfrm>
          <a:prstGeom prst="rect">
            <a:avLst/>
          </a:prstGeom>
          <a:noFill/>
          <a:ln/>
        </p:spPr>
        <p:txBody>
          <a:bodyPr wrap="square" lIns="0" tIns="0" rIns="0" bIns="0" rtlCol="0" anchor="ctr"/>
          <a:lstStyle/>
          <a:p>
            <a:pPr indent="0" marL="0">
              <a:buNone/>
            </a:pPr>
            <a:r>
              <a:rPr lang="en-US" sz="1450" b="1" dirty="0">
                <a:solidFill>
                  <a:srgbClr val="0C3046"/>
                </a:solidFill>
              </a:rPr>
              <a:t>9 Temel Alan</a:t>
            </a:r>
            <a:endParaRPr lang="en-US" sz="1450" dirty="0"/>
          </a:p>
        </p:txBody>
      </p:sp>
      <p:sp>
        <p:nvSpPr>
          <p:cNvPr id="44" name="Shape 41"/>
          <p:cNvSpPr/>
          <p:nvPr/>
        </p:nvSpPr>
        <p:spPr>
          <a:xfrm>
            <a:off x="2331720" y="4416552"/>
            <a:ext cx="1298448" cy="329184"/>
          </a:xfrm>
          <a:prstGeom prst="roundRect">
            <a:avLst>
              <a:gd name="adj" fmla="val 19444"/>
            </a:avLst>
          </a:prstGeom>
          <a:solidFill>
            <a:srgbClr val="E7F0F6"/>
          </a:solidFill>
          <a:ln w="12700">
            <a:solidFill>
              <a:srgbClr val="E7F0F6"/>
            </a:solidFill>
            <a:prstDash val="solid"/>
          </a:ln>
        </p:spPr>
      </p:sp>
      <p:sp>
        <p:nvSpPr>
          <p:cNvPr id="45" name="Text 42"/>
          <p:cNvSpPr/>
          <p:nvPr/>
        </p:nvSpPr>
        <p:spPr>
          <a:xfrm>
            <a:off x="2331720" y="4503420"/>
            <a:ext cx="1298448" cy="109728"/>
          </a:xfrm>
          <a:prstGeom prst="rect">
            <a:avLst/>
          </a:prstGeom>
          <a:noFill/>
          <a:ln/>
        </p:spPr>
        <p:txBody>
          <a:bodyPr wrap="square" lIns="0" tIns="0" rIns="0" bIns="0" rtlCol="0" anchor="ctr"/>
          <a:lstStyle/>
          <a:p>
            <a:pPr algn="ctr" indent="0" marL="0">
              <a:buNone/>
            </a:pPr>
            <a:r>
              <a:rPr lang="en-US" sz="920" b="1" dirty="0">
                <a:solidFill>
                  <a:srgbClr val="0C3046"/>
                </a:solidFill>
              </a:rPr>
              <a:t>Kâr Payı</a:t>
            </a:r>
            <a:endParaRPr lang="en-US" sz="920" dirty="0"/>
          </a:p>
        </p:txBody>
      </p:sp>
      <p:sp>
        <p:nvSpPr>
          <p:cNvPr id="46" name="Shape 43"/>
          <p:cNvSpPr/>
          <p:nvPr/>
        </p:nvSpPr>
        <p:spPr>
          <a:xfrm>
            <a:off x="3813048" y="4416552"/>
            <a:ext cx="1298448" cy="329184"/>
          </a:xfrm>
          <a:prstGeom prst="roundRect">
            <a:avLst>
              <a:gd name="adj" fmla="val 19444"/>
            </a:avLst>
          </a:prstGeom>
          <a:solidFill>
            <a:srgbClr val="FFF4DC"/>
          </a:solidFill>
          <a:ln w="12700">
            <a:solidFill>
              <a:srgbClr val="FFF4DC"/>
            </a:solidFill>
            <a:prstDash val="solid"/>
          </a:ln>
        </p:spPr>
      </p:sp>
      <p:sp>
        <p:nvSpPr>
          <p:cNvPr id="47" name="Text 44"/>
          <p:cNvSpPr/>
          <p:nvPr/>
        </p:nvSpPr>
        <p:spPr>
          <a:xfrm>
            <a:off x="3813048" y="4503420"/>
            <a:ext cx="1298448" cy="109728"/>
          </a:xfrm>
          <a:prstGeom prst="rect">
            <a:avLst/>
          </a:prstGeom>
          <a:noFill/>
          <a:ln/>
        </p:spPr>
        <p:txBody>
          <a:bodyPr wrap="square" lIns="0" tIns="0" rIns="0" bIns="0" rtlCol="0" anchor="ctr"/>
          <a:lstStyle/>
          <a:p>
            <a:pPr algn="ctr" indent="0" marL="0">
              <a:buNone/>
            </a:pPr>
            <a:r>
              <a:rPr lang="en-US" sz="920" b="1" dirty="0">
                <a:solidFill>
                  <a:srgbClr val="B47A1F"/>
                </a:solidFill>
              </a:rPr>
              <a:t>Finansman Oranı</a:t>
            </a:r>
            <a:endParaRPr lang="en-US" sz="920" dirty="0"/>
          </a:p>
        </p:txBody>
      </p:sp>
      <p:sp>
        <p:nvSpPr>
          <p:cNvPr id="48" name="Shape 45"/>
          <p:cNvSpPr/>
          <p:nvPr/>
        </p:nvSpPr>
        <p:spPr>
          <a:xfrm>
            <a:off x="5294376" y="4416552"/>
            <a:ext cx="1298448" cy="329184"/>
          </a:xfrm>
          <a:prstGeom prst="roundRect">
            <a:avLst>
              <a:gd name="adj" fmla="val 19444"/>
            </a:avLst>
          </a:prstGeom>
          <a:solidFill>
            <a:srgbClr val="E7F0F6"/>
          </a:solidFill>
          <a:ln w="12700">
            <a:solidFill>
              <a:srgbClr val="E7F0F6"/>
            </a:solidFill>
            <a:prstDash val="solid"/>
          </a:ln>
        </p:spPr>
      </p:sp>
      <p:sp>
        <p:nvSpPr>
          <p:cNvPr id="49" name="Text 46"/>
          <p:cNvSpPr/>
          <p:nvPr/>
        </p:nvSpPr>
        <p:spPr>
          <a:xfrm>
            <a:off x="5294376" y="4503420"/>
            <a:ext cx="1298448" cy="109728"/>
          </a:xfrm>
          <a:prstGeom prst="rect">
            <a:avLst/>
          </a:prstGeom>
          <a:noFill/>
          <a:ln/>
        </p:spPr>
        <p:txBody>
          <a:bodyPr wrap="square" lIns="0" tIns="0" rIns="0" bIns="0" rtlCol="0" anchor="ctr"/>
          <a:lstStyle/>
          <a:p>
            <a:pPr algn="ctr" indent="0" marL="0">
              <a:buNone/>
            </a:pPr>
            <a:r>
              <a:rPr lang="en-US" sz="920" b="1" dirty="0">
                <a:solidFill>
                  <a:srgbClr val="0C3046"/>
                </a:solidFill>
              </a:rPr>
              <a:t>Tutar</a:t>
            </a:r>
            <a:endParaRPr lang="en-US" sz="920" dirty="0"/>
          </a:p>
        </p:txBody>
      </p:sp>
      <p:sp>
        <p:nvSpPr>
          <p:cNvPr id="50" name="Shape 47"/>
          <p:cNvSpPr/>
          <p:nvPr/>
        </p:nvSpPr>
        <p:spPr>
          <a:xfrm>
            <a:off x="6775704" y="4416552"/>
            <a:ext cx="1298448" cy="329184"/>
          </a:xfrm>
          <a:prstGeom prst="roundRect">
            <a:avLst>
              <a:gd name="adj" fmla="val 19444"/>
            </a:avLst>
          </a:prstGeom>
          <a:solidFill>
            <a:srgbClr val="FFF4DC"/>
          </a:solidFill>
          <a:ln w="12700">
            <a:solidFill>
              <a:srgbClr val="FFF4DC"/>
            </a:solidFill>
            <a:prstDash val="solid"/>
          </a:ln>
        </p:spPr>
      </p:sp>
      <p:sp>
        <p:nvSpPr>
          <p:cNvPr id="51" name="Text 48"/>
          <p:cNvSpPr/>
          <p:nvPr/>
        </p:nvSpPr>
        <p:spPr>
          <a:xfrm>
            <a:off x="6775704" y="4503420"/>
            <a:ext cx="1298448" cy="109728"/>
          </a:xfrm>
          <a:prstGeom prst="rect">
            <a:avLst/>
          </a:prstGeom>
          <a:noFill/>
          <a:ln/>
        </p:spPr>
        <p:txBody>
          <a:bodyPr wrap="square" lIns="0" tIns="0" rIns="0" bIns="0" rtlCol="0" anchor="ctr"/>
          <a:lstStyle/>
          <a:p>
            <a:pPr algn="ctr" indent="0" marL="0">
              <a:buNone/>
            </a:pPr>
            <a:r>
              <a:rPr lang="en-US" sz="920" b="1" dirty="0">
                <a:solidFill>
                  <a:srgbClr val="B47A1F"/>
                </a:solidFill>
              </a:rPr>
              <a:t>Vade</a:t>
            </a:r>
            <a:endParaRPr lang="en-US" sz="920" dirty="0"/>
          </a:p>
        </p:txBody>
      </p:sp>
      <p:sp>
        <p:nvSpPr>
          <p:cNvPr id="52" name="Shape 49"/>
          <p:cNvSpPr/>
          <p:nvPr/>
        </p:nvSpPr>
        <p:spPr>
          <a:xfrm>
            <a:off x="8257032" y="4416552"/>
            <a:ext cx="1298448" cy="329184"/>
          </a:xfrm>
          <a:prstGeom prst="roundRect">
            <a:avLst>
              <a:gd name="adj" fmla="val 19444"/>
            </a:avLst>
          </a:prstGeom>
          <a:solidFill>
            <a:srgbClr val="E7F0F6"/>
          </a:solidFill>
          <a:ln w="12700">
            <a:solidFill>
              <a:srgbClr val="E7F0F6"/>
            </a:solidFill>
            <a:prstDash val="solid"/>
          </a:ln>
        </p:spPr>
      </p:sp>
      <p:sp>
        <p:nvSpPr>
          <p:cNvPr id="53" name="Text 50"/>
          <p:cNvSpPr/>
          <p:nvPr/>
        </p:nvSpPr>
        <p:spPr>
          <a:xfrm>
            <a:off x="8257032" y="4503420"/>
            <a:ext cx="1298448" cy="109728"/>
          </a:xfrm>
          <a:prstGeom prst="rect">
            <a:avLst/>
          </a:prstGeom>
          <a:noFill/>
          <a:ln/>
        </p:spPr>
        <p:txBody>
          <a:bodyPr wrap="square" lIns="0" tIns="0" rIns="0" bIns="0" rtlCol="0" anchor="ctr"/>
          <a:lstStyle/>
          <a:p>
            <a:pPr algn="ctr" indent="0" marL="0">
              <a:buNone/>
            </a:pPr>
            <a:r>
              <a:rPr lang="en-US" sz="920" b="1" dirty="0">
                <a:solidFill>
                  <a:srgbClr val="0C3046"/>
                </a:solidFill>
              </a:rPr>
              <a:t>Taksit</a:t>
            </a:r>
            <a:endParaRPr lang="en-US" sz="920" dirty="0"/>
          </a:p>
        </p:txBody>
      </p:sp>
      <p:sp>
        <p:nvSpPr>
          <p:cNvPr id="54" name="Shape 51"/>
          <p:cNvSpPr/>
          <p:nvPr/>
        </p:nvSpPr>
        <p:spPr>
          <a:xfrm>
            <a:off x="2331720" y="4855464"/>
            <a:ext cx="1298448" cy="329184"/>
          </a:xfrm>
          <a:prstGeom prst="roundRect">
            <a:avLst>
              <a:gd name="adj" fmla="val 19444"/>
            </a:avLst>
          </a:prstGeom>
          <a:solidFill>
            <a:srgbClr val="FFF4DC"/>
          </a:solidFill>
          <a:ln w="12700">
            <a:solidFill>
              <a:srgbClr val="FFF4DC"/>
            </a:solidFill>
            <a:prstDash val="solid"/>
          </a:ln>
        </p:spPr>
      </p:sp>
      <p:sp>
        <p:nvSpPr>
          <p:cNvPr id="55" name="Text 52"/>
          <p:cNvSpPr/>
          <p:nvPr/>
        </p:nvSpPr>
        <p:spPr>
          <a:xfrm>
            <a:off x="2331720" y="4942332"/>
            <a:ext cx="1298448" cy="109728"/>
          </a:xfrm>
          <a:prstGeom prst="rect">
            <a:avLst/>
          </a:prstGeom>
          <a:noFill/>
          <a:ln/>
        </p:spPr>
        <p:txBody>
          <a:bodyPr wrap="square" lIns="0" tIns="0" rIns="0" bIns="0" rtlCol="0" anchor="ctr"/>
          <a:lstStyle/>
          <a:p>
            <a:pPr algn="ctr" indent="0" marL="0">
              <a:buNone/>
            </a:pPr>
            <a:r>
              <a:rPr lang="en-US" sz="920" b="1" dirty="0">
                <a:solidFill>
                  <a:srgbClr val="B47A1F"/>
                </a:solidFill>
              </a:rPr>
              <a:t>Masraf</a:t>
            </a:r>
            <a:endParaRPr lang="en-US" sz="920" dirty="0"/>
          </a:p>
        </p:txBody>
      </p:sp>
      <p:sp>
        <p:nvSpPr>
          <p:cNvPr id="56" name="Shape 53"/>
          <p:cNvSpPr/>
          <p:nvPr/>
        </p:nvSpPr>
        <p:spPr>
          <a:xfrm>
            <a:off x="3813048" y="4855464"/>
            <a:ext cx="1298448" cy="329184"/>
          </a:xfrm>
          <a:prstGeom prst="roundRect">
            <a:avLst>
              <a:gd name="adj" fmla="val 19444"/>
            </a:avLst>
          </a:prstGeom>
          <a:solidFill>
            <a:srgbClr val="E7F0F6"/>
          </a:solidFill>
          <a:ln w="12700">
            <a:solidFill>
              <a:srgbClr val="E7F0F6"/>
            </a:solidFill>
            <a:prstDash val="solid"/>
          </a:ln>
        </p:spPr>
      </p:sp>
      <p:sp>
        <p:nvSpPr>
          <p:cNvPr id="57" name="Text 54"/>
          <p:cNvSpPr/>
          <p:nvPr/>
        </p:nvSpPr>
        <p:spPr>
          <a:xfrm>
            <a:off x="3813048" y="4942332"/>
            <a:ext cx="1298448" cy="109728"/>
          </a:xfrm>
          <a:prstGeom prst="rect">
            <a:avLst/>
          </a:prstGeom>
          <a:noFill/>
          <a:ln/>
        </p:spPr>
        <p:txBody>
          <a:bodyPr wrap="square" lIns="0" tIns="0" rIns="0" bIns="0" rtlCol="0" anchor="ctr"/>
          <a:lstStyle/>
          <a:p>
            <a:pPr algn="ctr" indent="0" marL="0">
              <a:buNone/>
            </a:pPr>
            <a:r>
              <a:rPr lang="en-US" sz="920" b="1" dirty="0">
                <a:solidFill>
                  <a:srgbClr val="0C3046"/>
                </a:solidFill>
              </a:rPr>
              <a:t>Hedef Kitle</a:t>
            </a:r>
            <a:endParaRPr lang="en-US" sz="920" dirty="0"/>
          </a:p>
        </p:txBody>
      </p:sp>
      <p:sp>
        <p:nvSpPr>
          <p:cNvPr id="58" name="Shape 55"/>
          <p:cNvSpPr/>
          <p:nvPr/>
        </p:nvSpPr>
        <p:spPr>
          <a:xfrm>
            <a:off x="5294376" y="4855464"/>
            <a:ext cx="1298448" cy="329184"/>
          </a:xfrm>
          <a:prstGeom prst="roundRect">
            <a:avLst>
              <a:gd name="adj" fmla="val 19444"/>
            </a:avLst>
          </a:prstGeom>
          <a:solidFill>
            <a:srgbClr val="FFF4DC"/>
          </a:solidFill>
          <a:ln w="12700">
            <a:solidFill>
              <a:srgbClr val="FFF4DC"/>
            </a:solidFill>
            <a:prstDash val="solid"/>
          </a:ln>
        </p:spPr>
      </p:sp>
      <p:sp>
        <p:nvSpPr>
          <p:cNvPr id="59" name="Text 56"/>
          <p:cNvSpPr/>
          <p:nvPr/>
        </p:nvSpPr>
        <p:spPr>
          <a:xfrm>
            <a:off x="5294376" y="4942332"/>
            <a:ext cx="1298448" cy="109728"/>
          </a:xfrm>
          <a:prstGeom prst="rect">
            <a:avLst/>
          </a:prstGeom>
          <a:noFill/>
          <a:ln/>
        </p:spPr>
        <p:txBody>
          <a:bodyPr wrap="square" lIns="0" tIns="0" rIns="0" bIns="0" rtlCol="0" anchor="ctr"/>
          <a:lstStyle/>
          <a:p>
            <a:pPr algn="ctr" indent="0" marL="0">
              <a:buNone/>
            </a:pPr>
            <a:r>
              <a:rPr lang="en-US" sz="920" b="1" dirty="0">
                <a:solidFill>
                  <a:srgbClr val="B47A1F"/>
                </a:solidFill>
              </a:rPr>
              <a:t>Para Birimi</a:t>
            </a:r>
            <a:endParaRPr lang="en-US" sz="920" dirty="0"/>
          </a:p>
        </p:txBody>
      </p:sp>
      <p:sp>
        <p:nvSpPr>
          <p:cNvPr id="60" name="Shape 57"/>
          <p:cNvSpPr/>
          <p:nvPr/>
        </p:nvSpPr>
        <p:spPr>
          <a:xfrm>
            <a:off x="6775704" y="4855464"/>
            <a:ext cx="1298448" cy="329184"/>
          </a:xfrm>
          <a:prstGeom prst="roundRect">
            <a:avLst>
              <a:gd name="adj" fmla="val 19444"/>
            </a:avLst>
          </a:prstGeom>
          <a:solidFill>
            <a:srgbClr val="E7F0F6"/>
          </a:solidFill>
          <a:ln w="12700">
            <a:solidFill>
              <a:srgbClr val="E7F0F6"/>
            </a:solidFill>
            <a:prstDash val="solid"/>
          </a:ln>
        </p:spPr>
      </p:sp>
      <p:sp>
        <p:nvSpPr>
          <p:cNvPr id="61" name="Text 58"/>
          <p:cNvSpPr/>
          <p:nvPr/>
        </p:nvSpPr>
        <p:spPr>
          <a:xfrm>
            <a:off x="6775704" y="4942332"/>
            <a:ext cx="1298448" cy="109728"/>
          </a:xfrm>
          <a:prstGeom prst="rect">
            <a:avLst/>
          </a:prstGeom>
          <a:noFill/>
          <a:ln/>
        </p:spPr>
        <p:txBody>
          <a:bodyPr wrap="square" lIns="0" tIns="0" rIns="0" bIns="0" rtlCol="0" anchor="ctr"/>
          <a:lstStyle/>
          <a:p>
            <a:pPr algn="ctr" indent="0" marL="0">
              <a:buNone/>
            </a:pPr>
            <a:r>
              <a:rPr lang="en-US" sz="920" b="1" dirty="0">
                <a:solidFill>
                  <a:srgbClr val="0C3046"/>
                </a:solidFill>
              </a:rPr>
              <a:t>Koşullar</a:t>
            </a:r>
            <a:endParaRPr lang="en-US" sz="920" dirty="0"/>
          </a:p>
        </p:txBody>
      </p:sp>
      <p:sp>
        <p:nvSpPr>
          <p:cNvPr id="62" name="Shape 59"/>
          <p:cNvSpPr/>
          <p:nvPr/>
        </p:nvSpPr>
        <p:spPr>
          <a:xfrm>
            <a:off x="758952" y="5779008"/>
            <a:ext cx="10698480" cy="429768"/>
          </a:xfrm>
          <a:prstGeom prst="roundRect">
            <a:avLst>
              <a:gd name="adj" fmla="val 17021"/>
            </a:avLst>
          </a:prstGeom>
          <a:solidFill>
            <a:srgbClr val="FFF4DC"/>
          </a:solidFill>
          <a:ln w="12700">
            <a:solidFill>
              <a:srgbClr val="B47A1F">
                <a:alpha val="65000"/>
              </a:srgbClr>
            </a:solidFill>
            <a:prstDash val="solid"/>
          </a:ln>
        </p:spPr>
      </p:sp>
      <p:sp>
        <p:nvSpPr>
          <p:cNvPr id="63" name="Text 60"/>
          <p:cNvSpPr/>
          <p:nvPr/>
        </p:nvSpPr>
        <p:spPr>
          <a:xfrm>
            <a:off x="932688" y="5916168"/>
            <a:ext cx="10332720" cy="109728"/>
          </a:xfrm>
          <a:prstGeom prst="rect">
            <a:avLst/>
          </a:prstGeom>
          <a:noFill/>
          <a:ln/>
        </p:spPr>
        <p:txBody>
          <a:bodyPr wrap="square" lIns="0" tIns="0" rIns="0" bIns="0" rtlCol="0" anchor="ctr">
            <a:normAutofit/>
          </a:bodyPr>
          <a:lstStyle/>
          <a:p>
            <a:pPr algn="ctr" indent="0" marL="0">
              <a:buNone/>
            </a:pPr>
            <a:r>
              <a:rPr lang="en-US" sz="1250" b="1" i="1" dirty="0">
                <a:solidFill>
                  <a:srgbClr val="B47A1F"/>
                </a:solidFill>
              </a:rPr>
              <a:t>Model finansal değeri tahmin etmiyor; o değeri çıkaracak programı yazıyor.</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mnt/data/template_media/image2.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658368" y="512064"/>
            <a:ext cx="10881360" cy="347472"/>
          </a:xfrm>
          <a:prstGeom prst="rect">
            <a:avLst/>
          </a:prstGeom>
          <a:noFill/>
          <a:ln/>
        </p:spPr>
        <p:txBody>
          <a:bodyPr wrap="square" lIns="0" tIns="0" rIns="0" bIns="0" rtlCol="0" anchor="ctr"/>
          <a:lstStyle/>
          <a:p>
            <a:pPr indent="0" marL="0">
              <a:buNone/>
            </a:pPr>
            <a:r>
              <a:rPr lang="en-US" sz="2600" b="1" dirty="0">
                <a:solidFill>
                  <a:srgbClr val="0C3046"/>
                </a:solidFill>
                <a:latin typeface="Arial" pitchFamily="34" charset="0"/>
                <a:ea typeface="Arial" pitchFamily="34" charset="-122"/>
                <a:cs typeface="Arial" pitchFamily="34" charset="-120"/>
              </a:rPr>
              <a:t>AI Asistan ve Karşılaştırma Motoru</a:t>
            </a:r>
            <a:endParaRPr lang="en-US" sz="2600" dirty="0"/>
          </a:p>
        </p:txBody>
      </p:sp>
      <p:sp>
        <p:nvSpPr>
          <p:cNvPr id="4" name="Text 1"/>
          <p:cNvSpPr/>
          <p:nvPr/>
        </p:nvSpPr>
        <p:spPr>
          <a:xfrm>
            <a:off x="676656" y="914400"/>
            <a:ext cx="10515600" cy="256032"/>
          </a:xfrm>
          <a:prstGeom prst="rect">
            <a:avLst/>
          </a:prstGeom>
          <a:noFill/>
          <a:ln/>
        </p:spPr>
        <p:txBody>
          <a:bodyPr wrap="square" lIns="0" tIns="0" rIns="0" bIns="0" rtlCol="0" anchor="ctr"/>
          <a:lstStyle/>
          <a:p>
            <a:pPr indent="0" marL="0">
              <a:buNone/>
            </a:pPr>
            <a:r>
              <a:rPr lang="en-US" sz="1250" dirty="0">
                <a:solidFill>
                  <a:srgbClr val="53606B"/>
                </a:solidFill>
                <a:latin typeface="Arial" pitchFamily="34" charset="0"/>
                <a:ea typeface="Arial" pitchFamily="34" charset="-122"/>
                <a:cs typeface="Arial" pitchFamily="34" charset="-120"/>
              </a:rPr>
              <a:t>Kullanıcı sorusu deterministik finansal araçlara yönlendirilir</a:t>
            </a:r>
            <a:endParaRPr lang="en-US" sz="1250" dirty="0"/>
          </a:p>
        </p:txBody>
      </p:sp>
      <p:sp>
        <p:nvSpPr>
          <p:cNvPr id="5" name="Shape 2"/>
          <p:cNvSpPr/>
          <p:nvPr/>
        </p:nvSpPr>
        <p:spPr>
          <a:xfrm>
            <a:off x="2093976" y="1792224"/>
            <a:ext cx="265176" cy="0"/>
          </a:xfrm>
          <a:prstGeom prst="line">
            <a:avLst/>
          </a:prstGeom>
          <a:noFill/>
          <a:ln w="22860">
            <a:solidFill>
              <a:srgbClr val="B47A1F"/>
            </a:solidFill>
            <a:prstDash val="solid"/>
            <a:headEnd type="none"/>
            <a:tailEnd type="triangle"/>
          </a:ln>
        </p:spPr>
      </p:sp>
      <p:sp>
        <p:nvSpPr>
          <p:cNvPr id="6" name="Shape 3"/>
          <p:cNvSpPr/>
          <p:nvPr/>
        </p:nvSpPr>
        <p:spPr>
          <a:xfrm>
            <a:off x="3767328" y="1792224"/>
            <a:ext cx="265176" cy="0"/>
          </a:xfrm>
          <a:prstGeom prst="line">
            <a:avLst/>
          </a:prstGeom>
          <a:noFill/>
          <a:ln w="22860">
            <a:solidFill>
              <a:srgbClr val="B47A1F"/>
            </a:solidFill>
            <a:prstDash val="solid"/>
            <a:headEnd type="none"/>
            <a:tailEnd type="triangle"/>
          </a:ln>
        </p:spPr>
      </p:sp>
      <p:sp>
        <p:nvSpPr>
          <p:cNvPr id="7" name="Shape 4"/>
          <p:cNvSpPr/>
          <p:nvPr/>
        </p:nvSpPr>
        <p:spPr>
          <a:xfrm>
            <a:off x="5440680" y="1792224"/>
            <a:ext cx="265176" cy="0"/>
          </a:xfrm>
          <a:prstGeom prst="line">
            <a:avLst/>
          </a:prstGeom>
          <a:noFill/>
          <a:ln w="22860">
            <a:solidFill>
              <a:srgbClr val="B47A1F"/>
            </a:solidFill>
            <a:prstDash val="solid"/>
            <a:headEnd type="none"/>
            <a:tailEnd type="triangle"/>
          </a:ln>
        </p:spPr>
      </p:sp>
      <p:sp>
        <p:nvSpPr>
          <p:cNvPr id="8" name="Shape 5"/>
          <p:cNvSpPr/>
          <p:nvPr/>
        </p:nvSpPr>
        <p:spPr>
          <a:xfrm>
            <a:off x="7114032" y="1792224"/>
            <a:ext cx="265176" cy="0"/>
          </a:xfrm>
          <a:prstGeom prst="line">
            <a:avLst/>
          </a:prstGeom>
          <a:noFill/>
          <a:ln w="22860">
            <a:solidFill>
              <a:srgbClr val="B47A1F"/>
            </a:solidFill>
            <a:prstDash val="solid"/>
            <a:headEnd type="none"/>
            <a:tailEnd type="triangle"/>
          </a:ln>
        </p:spPr>
      </p:sp>
      <p:sp>
        <p:nvSpPr>
          <p:cNvPr id="9" name="Shape 6"/>
          <p:cNvSpPr/>
          <p:nvPr/>
        </p:nvSpPr>
        <p:spPr>
          <a:xfrm>
            <a:off x="8787384" y="1792224"/>
            <a:ext cx="265176" cy="0"/>
          </a:xfrm>
          <a:prstGeom prst="line">
            <a:avLst/>
          </a:prstGeom>
          <a:noFill/>
          <a:ln w="22860">
            <a:solidFill>
              <a:srgbClr val="B47A1F"/>
            </a:solidFill>
            <a:prstDash val="solid"/>
            <a:headEnd type="none"/>
            <a:tailEnd type="triangle"/>
          </a:ln>
        </p:spPr>
      </p:sp>
      <p:sp>
        <p:nvSpPr>
          <p:cNvPr id="10" name="Shape 7"/>
          <p:cNvSpPr/>
          <p:nvPr/>
        </p:nvSpPr>
        <p:spPr>
          <a:xfrm>
            <a:off x="713232" y="1481328"/>
            <a:ext cx="1353312" cy="603504"/>
          </a:xfrm>
          <a:prstGeom prst="roundRect">
            <a:avLst>
              <a:gd name="adj" fmla="val 12121"/>
            </a:avLst>
          </a:prstGeom>
          <a:solidFill>
            <a:srgbClr val="0C3046"/>
          </a:solidFill>
          <a:ln w="12700">
            <a:solidFill>
              <a:srgbClr val="0C3046"/>
            </a:solidFill>
            <a:prstDash val="solid"/>
          </a:ln>
        </p:spPr>
      </p:sp>
      <p:sp>
        <p:nvSpPr>
          <p:cNvPr id="11" name="Text 8"/>
          <p:cNvSpPr/>
          <p:nvPr/>
        </p:nvSpPr>
        <p:spPr>
          <a:xfrm>
            <a:off x="786384" y="1600200"/>
            <a:ext cx="1207008" cy="219456"/>
          </a:xfrm>
          <a:prstGeom prst="rect">
            <a:avLst/>
          </a:prstGeom>
          <a:noFill/>
          <a:ln/>
        </p:spPr>
        <p:txBody>
          <a:bodyPr wrap="square" lIns="0" tIns="0" rIns="0" bIns="0" rtlCol="0" anchor="ctr">
            <a:normAutofit/>
          </a:bodyPr>
          <a:lstStyle/>
          <a:p>
            <a:pPr algn="ctr" indent="0" marL="0">
              <a:buNone/>
            </a:pPr>
            <a:r>
              <a:rPr lang="en-US" sz="1020" b="1" dirty="0">
                <a:solidFill>
                  <a:srgbClr val="FFFFFF"/>
                </a:solidFill>
              </a:rPr>
              <a:t>Kullanıcı</a:t>
            </a:r>
            <a:endParaRPr lang="en-US" sz="1020" dirty="0"/>
          </a:p>
          <a:p>
            <a:pPr algn="ctr" indent="0" marL="0">
              <a:buNone/>
            </a:pPr>
            <a:r>
              <a:rPr lang="en-US" sz="1020" b="1" dirty="0">
                <a:solidFill>
                  <a:srgbClr val="FFFFFF"/>
                </a:solidFill>
              </a:rPr>
              <a:t>Sorusu</a:t>
            </a:r>
            <a:endParaRPr lang="en-US" sz="1020" dirty="0"/>
          </a:p>
        </p:txBody>
      </p:sp>
      <p:sp>
        <p:nvSpPr>
          <p:cNvPr id="12" name="Text 9"/>
          <p:cNvSpPr/>
          <p:nvPr/>
        </p:nvSpPr>
        <p:spPr>
          <a:xfrm>
            <a:off x="786384" y="1856232"/>
            <a:ext cx="1207008" cy="164592"/>
          </a:xfrm>
          <a:prstGeom prst="rect">
            <a:avLst/>
          </a:prstGeom>
          <a:noFill/>
          <a:ln/>
        </p:spPr>
        <p:txBody>
          <a:bodyPr wrap="square" lIns="0" tIns="0" rIns="0" bIns="0" rtlCol="0" anchor="ctr">
            <a:normAutofit/>
          </a:bodyPr>
          <a:lstStyle/>
          <a:p>
            <a:pPr algn="ctr" indent="0" marL="0">
              <a:buNone/>
            </a:pPr>
            <a:r>
              <a:rPr lang="en-US" sz="770" dirty="0">
                <a:solidFill>
                  <a:srgbClr val="FFFFFF"/>
                </a:solidFill>
              </a:rPr>
              <a:t>doğal dil</a:t>
            </a:r>
            <a:endParaRPr lang="en-US" sz="770" dirty="0"/>
          </a:p>
        </p:txBody>
      </p:sp>
      <p:sp>
        <p:nvSpPr>
          <p:cNvPr id="13" name="Shape 10"/>
          <p:cNvSpPr/>
          <p:nvPr/>
        </p:nvSpPr>
        <p:spPr>
          <a:xfrm>
            <a:off x="2386584" y="1481328"/>
            <a:ext cx="1353312" cy="603504"/>
          </a:xfrm>
          <a:prstGeom prst="roundRect">
            <a:avLst>
              <a:gd name="adj" fmla="val 12121"/>
            </a:avLst>
          </a:prstGeom>
          <a:solidFill>
            <a:srgbClr val="B47A1F"/>
          </a:solidFill>
          <a:ln w="12700">
            <a:solidFill>
              <a:srgbClr val="B47A1F"/>
            </a:solidFill>
            <a:prstDash val="solid"/>
          </a:ln>
        </p:spPr>
      </p:sp>
      <p:sp>
        <p:nvSpPr>
          <p:cNvPr id="14" name="Text 11"/>
          <p:cNvSpPr/>
          <p:nvPr/>
        </p:nvSpPr>
        <p:spPr>
          <a:xfrm>
            <a:off x="2459736" y="1600200"/>
            <a:ext cx="1207008" cy="219456"/>
          </a:xfrm>
          <a:prstGeom prst="rect">
            <a:avLst/>
          </a:prstGeom>
          <a:noFill/>
          <a:ln/>
        </p:spPr>
        <p:txBody>
          <a:bodyPr wrap="square" lIns="0" tIns="0" rIns="0" bIns="0" rtlCol="0" anchor="ctr">
            <a:normAutofit/>
          </a:bodyPr>
          <a:lstStyle/>
          <a:p>
            <a:pPr algn="ctr" indent="0" marL="0">
              <a:buNone/>
            </a:pPr>
            <a:r>
              <a:rPr lang="en-US" sz="1020" b="1" dirty="0">
                <a:solidFill>
                  <a:srgbClr val="FFFFFF"/>
                </a:solidFill>
              </a:rPr>
              <a:t>AI Agent</a:t>
            </a:r>
            <a:endParaRPr lang="en-US" sz="1020" dirty="0"/>
          </a:p>
          <a:p>
            <a:pPr algn="ctr" indent="0" marL="0">
              <a:buNone/>
            </a:pPr>
            <a:r>
              <a:rPr lang="en-US" sz="1020" b="1" dirty="0">
                <a:solidFill>
                  <a:srgbClr val="FFFFFF"/>
                </a:solidFill>
              </a:rPr>
              <a:t>Qwen3.5</a:t>
            </a:r>
            <a:endParaRPr lang="en-US" sz="1020" dirty="0"/>
          </a:p>
        </p:txBody>
      </p:sp>
      <p:sp>
        <p:nvSpPr>
          <p:cNvPr id="15" name="Text 12"/>
          <p:cNvSpPr/>
          <p:nvPr/>
        </p:nvSpPr>
        <p:spPr>
          <a:xfrm>
            <a:off x="2459736" y="1856232"/>
            <a:ext cx="1207008" cy="164592"/>
          </a:xfrm>
          <a:prstGeom prst="rect">
            <a:avLst/>
          </a:prstGeom>
          <a:noFill/>
          <a:ln/>
        </p:spPr>
        <p:txBody>
          <a:bodyPr wrap="square" lIns="0" tIns="0" rIns="0" bIns="0" rtlCol="0" anchor="ctr">
            <a:normAutofit/>
          </a:bodyPr>
          <a:lstStyle/>
          <a:p>
            <a:pPr algn="ctr" indent="0" marL="0">
              <a:buNone/>
            </a:pPr>
            <a:r>
              <a:rPr lang="en-US" sz="770" dirty="0">
                <a:solidFill>
                  <a:srgbClr val="FFFFFF"/>
                </a:solidFill>
              </a:rPr>
              <a:t>niyet</a:t>
            </a:r>
            <a:endParaRPr lang="en-US" sz="770" dirty="0"/>
          </a:p>
        </p:txBody>
      </p:sp>
      <p:sp>
        <p:nvSpPr>
          <p:cNvPr id="16" name="Shape 13"/>
          <p:cNvSpPr/>
          <p:nvPr/>
        </p:nvSpPr>
        <p:spPr>
          <a:xfrm>
            <a:off x="4059936" y="1481328"/>
            <a:ext cx="1353312" cy="603504"/>
          </a:xfrm>
          <a:prstGeom prst="roundRect">
            <a:avLst>
              <a:gd name="adj" fmla="val 12121"/>
            </a:avLst>
          </a:prstGeom>
          <a:solidFill>
            <a:srgbClr val="0C3046"/>
          </a:solidFill>
          <a:ln w="12700">
            <a:solidFill>
              <a:srgbClr val="0C3046"/>
            </a:solidFill>
            <a:prstDash val="solid"/>
          </a:ln>
        </p:spPr>
      </p:sp>
      <p:sp>
        <p:nvSpPr>
          <p:cNvPr id="17" name="Text 14"/>
          <p:cNvSpPr/>
          <p:nvPr/>
        </p:nvSpPr>
        <p:spPr>
          <a:xfrm>
            <a:off x="4133088" y="1600200"/>
            <a:ext cx="1207008" cy="219456"/>
          </a:xfrm>
          <a:prstGeom prst="rect">
            <a:avLst/>
          </a:prstGeom>
          <a:noFill/>
          <a:ln/>
        </p:spPr>
        <p:txBody>
          <a:bodyPr wrap="square" lIns="0" tIns="0" rIns="0" bIns="0" rtlCol="0" anchor="ctr">
            <a:normAutofit/>
          </a:bodyPr>
          <a:lstStyle/>
          <a:p>
            <a:pPr algn="ctr" indent="0" marL="0">
              <a:buNone/>
            </a:pPr>
            <a:r>
              <a:rPr lang="en-US" sz="1020" b="1" dirty="0">
                <a:solidFill>
                  <a:srgbClr val="FFFFFF"/>
                </a:solidFill>
              </a:rPr>
              <a:t>LangGraph</a:t>
            </a:r>
            <a:endParaRPr lang="en-US" sz="1020" dirty="0"/>
          </a:p>
          <a:p>
            <a:pPr algn="ctr" indent="0" marL="0">
              <a:buNone/>
            </a:pPr>
            <a:r>
              <a:rPr lang="en-US" sz="1020" b="1" dirty="0">
                <a:solidFill>
                  <a:srgbClr val="FFFFFF"/>
                </a:solidFill>
              </a:rPr>
              <a:t>Routing</a:t>
            </a:r>
            <a:endParaRPr lang="en-US" sz="1020" dirty="0"/>
          </a:p>
        </p:txBody>
      </p:sp>
      <p:sp>
        <p:nvSpPr>
          <p:cNvPr id="18" name="Text 15"/>
          <p:cNvSpPr/>
          <p:nvPr/>
        </p:nvSpPr>
        <p:spPr>
          <a:xfrm>
            <a:off x="4133088" y="1856232"/>
            <a:ext cx="1207008" cy="164592"/>
          </a:xfrm>
          <a:prstGeom prst="rect">
            <a:avLst/>
          </a:prstGeom>
          <a:noFill/>
          <a:ln/>
        </p:spPr>
        <p:txBody>
          <a:bodyPr wrap="square" lIns="0" tIns="0" rIns="0" bIns="0" rtlCol="0" anchor="ctr">
            <a:normAutofit/>
          </a:bodyPr>
          <a:lstStyle/>
          <a:p>
            <a:pPr algn="ctr" indent="0" marL="0">
              <a:buNone/>
            </a:pPr>
            <a:r>
              <a:rPr lang="en-US" sz="770" dirty="0">
                <a:solidFill>
                  <a:srgbClr val="FFFFFF"/>
                </a:solidFill>
              </a:rPr>
              <a:t>akış</a:t>
            </a:r>
            <a:endParaRPr lang="en-US" sz="770" dirty="0"/>
          </a:p>
        </p:txBody>
      </p:sp>
      <p:sp>
        <p:nvSpPr>
          <p:cNvPr id="19" name="Shape 16"/>
          <p:cNvSpPr/>
          <p:nvPr/>
        </p:nvSpPr>
        <p:spPr>
          <a:xfrm>
            <a:off x="5733288" y="1481328"/>
            <a:ext cx="1353312" cy="603504"/>
          </a:xfrm>
          <a:prstGeom prst="roundRect">
            <a:avLst>
              <a:gd name="adj" fmla="val 12121"/>
            </a:avLst>
          </a:prstGeom>
          <a:solidFill>
            <a:srgbClr val="B47A1F"/>
          </a:solidFill>
          <a:ln w="12700">
            <a:solidFill>
              <a:srgbClr val="B47A1F"/>
            </a:solidFill>
            <a:prstDash val="solid"/>
          </a:ln>
        </p:spPr>
      </p:sp>
      <p:sp>
        <p:nvSpPr>
          <p:cNvPr id="20" name="Text 17"/>
          <p:cNvSpPr/>
          <p:nvPr/>
        </p:nvSpPr>
        <p:spPr>
          <a:xfrm>
            <a:off x="5806440" y="1600200"/>
            <a:ext cx="1207008" cy="219456"/>
          </a:xfrm>
          <a:prstGeom prst="rect">
            <a:avLst/>
          </a:prstGeom>
          <a:noFill/>
          <a:ln/>
        </p:spPr>
        <p:txBody>
          <a:bodyPr wrap="square" lIns="0" tIns="0" rIns="0" bIns="0" rtlCol="0" anchor="ctr">
            <a:normAutofit/>
          </a:bodyPr>
          <a:lstStyle/>
          <a:p>
            <a:pPr algn="ctr" indent="0" marL="0">
              <a:buNone/>
            </a:pPr>
            <a:r>
              <a:rPr lang="en-US" sz="1020" b="1" dirty="0">
                <a:solidFill>
                  <a:srgbClr val="FFFFFF"/>
                </a:solidFill>
              </a:rPr>
              <a:t>Finansman /</a:t>
            </a:r>
            <a:endParaRPr lang="en-US" sz="1020" dirty="0"/>
          </a:p>
          <a:p>
            <a:pPr algn="ctr" indent="0" marL="0">
              <a:buNone/>
            </a:pPr>
            <a:r>
              <a:rPr lang="en-US" sz="1020" b="1" dirty="0">
                <a:solidFill>
                  <a:srgbClr val="FFFFFF"/>
                </a:solidFill>
              </a:rPr>
              <a:t>Kampanya Tool</a:t>
            </a:r>
            <a:endParaRPr lang="en-US" sz="1020" dirty="0"/>
          </a:p>
        </p:txBody>
      </p:sp>
      <p:sp>
        <p:nvSpPr>
          <p:cNvPr id="21" name="Text 18"/>
          <p:cNvSpPr/>
          <p:nvPr/>
        </p:nvSpPr>
        <p:spPr>
          <a:xfrm>
            <a:off x="5806440" y="1856232"/>
            <a:ext cx="1207008" cy="164592"/>
          </a:xfrm>
          <a:prstGeom prst="rect">
            <a:avLst/>
          </a:prstGeom>
          <a:noFill/>
          <a:ln/>
        </p:spPr>
        <p:txBody>
          <a:bodyPr wrap="square" lIns="0" tIns="0" rIns="0" bIns="0" rtlCol="0" anchor="ctr">
            <a:normAutofit/>
          </a:bodyPr>
          <a:lstStyle/>
          <a:p>
            <a:pPr algn="ctr" indent="0" marL="0">
              <a:buNone/>
            </a:pPr>
            <a:r>
              <a:rPr lang="en-US" sz="770" dirty="0">
                <a:solidFill>
                  <a:srgbClr val="FFFFFF"/>
                </a:solidFill>
              </a:rPr>
              <a:t>araç</a:t>
            </a:r>
            <a:endParaRPr lang="en-US" sz="770" dirty="0"/>
          </a:p>
        </p:txBody>
      </p:sp>
      <p:sp>
        <p:nvSpPr>
          <p:cNvPr id="22" name="Shape 19"/>
          <p:cNvSpPr/>
          <p:nvPr/>
        </p:nvSpPr>
        <p:spPr>
          <a:xfrm>
            <a:off x="7406640" y="1481328"/>
            <a:ext cx="1353312" cy="603504"/>
          </a:xfrm>
          <a:prstGeom prst="roundRect">
            <a:avLst>
              <a:gd name="adj" fmla="val 12121"/>
            </a:avLst>
          </a:prstGeom>
          <a:solidFill>
            <a:srgbClr val="0C3046"/>
          </a:solidFill>
          <a:ln w="12700">
            <a:solidFill>
              <a:srgbClr val="0C3046"/>
            </a:solidFill>
            <a:prstDash val="solid"/>
          </a:ln>
        </p:spPr>
      </p:sp>
      <p:sp>
        <p:nvSpPr>
          <p:cNvPr id="23" name="Text 20"/>
          <p:cNvSpPr/>
          <p:nvPr/>
        </p:nvSpPr>
        <p:spPr>
          <a:xfrm>
            <a:off x="7479792" y="1600200"/>
            <a:ext cx="1207008" cy="219456"/>
          </a:xfrm>
          <a:prstGeom prst="rect">
            <a:avLst/>
          </a:prstGeom>
          <a:noFill/>
          <a:ln/>
        </p:spPr>
        <p:txBody>
          <a:bodyPr wrap="square" lIns="0" tIns="0" rIns="0" bIns="0" rtlCol="0" anchor="ctr">
            <a:normAutofit/>
          </a:bodyPr>
          <a:lstStyle/>
          <a:p>
            <a:pPr algn="ctr" indent="0" marL="0">
              <a:buNone/>
            </a:pPr>
            <a:r>
              <a:rPr lang="en-US" sz="1020" b="1" dirty="0">
                <a:solidFill>
                  <a:srgbClr val="FFFFFF"/>
                </a:solidFill>
              </a:rPr>
              <a:t>Deterministik</a:t>
            </a:r>
            <a:endParaRPr lang="en-US" sz="1020" dirty="0"/>
          </a:p>
          <a:p>
            <a:pPr algn="ctr" indent="0" marL="0">
              <a:buNone/>
            </a:pPr>
            <a:r>
              <a:rPr lang="en-US" sz="1020" b="1" dirty="0">
                <a:solidFill>
                  <a:srgbClr val="FFFFFF"/>
                </a:solidFill>
              </a:rPr>
              <a:t>Karşılaştırma</a:t>
            </a:r>
            <a:endParaRPr lang="en-US" sz="1020" dirty="0"/>
          </a:p>
        </p:txBody>
      </p:sp>
      <p:sp>
        <p:nvSpPr>
          <p:cNvPr id="24" name="Text 21"/>
          <p:cNvSpPr/>
          <p:nvPr/>
        </p:nvSpPr>
        <p:spPr>
          <a:xfrm>
            <a:off x="7479792" y="1856232"/>
            <a:ext cx="1207008" cy="164592"/>
          </a:xfrm>
          <a:prstGeom prst="rect">
            <a:avLst/>
          </a:prstGeom>
          <a:noFill/>
          <a:ln/>
        </p:spPr>
        <p:txBody>
          <a:bodyPr wrap="square" lIns="0" tIns="0" rIns="0" bIns="0" rtlCol="0" anchor="ctr">
            <a:normAutofit/>
          </a:bodyPr>
          <a:lstStyle/>
          <a:p>
            <a:pPr algn="ctr" indent="0" marL="0">
              <a:buNone/>
            </a:pPr>
            <a:r>
              <a:rPr lang="en-US" sz="770" dirty="0">
                <a:solidFill>
                  <a:srgbClr val="FFFFFF"/>
                </a:solidFill>
              </a:rPr>
              <a:t>hesaplama</a:t>
            </a:r>
            <a:endParaRPr lang="en-US" sz="770" dirty="0"/>
          </a:p>
        </p:txBody>
      </p:sp>
      <p:sp>
        <p:nvSpPr>
          <p:cNvPr id="25" name="Shape 22"/>
          <p:cNvSpPr/>
          <p:nvPr/>
        </p:nvSpPr>
        <p:spPr>
          <a:xfrm>
            <a:off x="9079992" y="1481328"/>
            <a:ext cx="1353312" cy="603504"/>
          </a:xfrm>
          <a:prstGeom prst="roundRect">
            <a:avLst>
              <a:gd name="adj" fmla="val 12121"/>
            </a:avLst>
          </a:prstGeom>
          <a:solidFill>
            <a:srgbClr val="B47A1F"/>
          </a:solidFill>
          <a:ln w="12700">
            <a:solidFill>
              <a:srgbClr val="B47A1F"/>
            </a:solidFill>
            <a:prstDash val="solid"/>
          </a:ln>
        </p:spPr>
      </p:sp>
      <p:sp>
        <p:nvSpPr>
          <p:cNvPr id="26" name="Text 23"/>
          <p:cNvSpPr/>
          <p:nvPr/>
        </p:nvSpPr>
        <p:spPr>
          <a:xfrm>
            <a:off x="9153144" y="1600200"/>
            <a:ext cx="1207008" cy="219456"/>
          </a:xfrm>
          <a:prstGeom prst="rect">
            <a:avLst/>
          </a:prstGeom>
          <a:noFill/>
          <a:ln/>
        </p:spPr>
        <p:txBody>
          <a:bodyPr wrap="square" lIns="0" tIns="0" rIns="0" bIns="0" rtlCol="0" anchor="ctr">
            <a:normAutofit/>
          </a:bodyPr>
          <a:lstStyle/>
          <a:p>
            <a:pPr algn="ctr" indent="0" marL="0">
              <a:buNone/>
            </a:pPr>
            <a:r>
              <a:rPr lang="en-US" sz="1020" b="1" dirty="0">
                <a:solidFill>
                  <a:srgbClr val="FFFFFF"/>
                </a:solidFill>
              </a:rPr>
              <a:t>Kaynaklı</a:t>
            </a:r>
            <a:endParaRPr lang="en-US" sz="1020" dirty="0"/>
          </a:p>
          <a:p>
            <a:pPr algn="ctr" indent="0" marL="0">
              <a:buNone/>
            </a:pPr>
            <a:r>
              <a:rPr lang="en-US" sz="1020" b="1" dirty="0">
                <a:solidFill>
                  <a:srgbClr val="FFFFFF"/>
                </a:solidFill>
              </a:rPr>
              <a:t>Yanıt</a:t>
            </a:r>
            <a:endParaRPr lang="en-US" sz="1020" dirty="0"/>
          </a:p>
        </p:txBody>
      </p:sp>
      <p:sp>
        <p:nvSpPr>
          <p:cNvPr id="27" name="Text 24"/>
          <p:cNvSpPr/>
          <p:nvPr/>
        </p:nvSpPr>
        <p:spPr>
          <a:xfrm>
            <a:off x="9153144" y="1856232"/>
            <a:ext cx="1207008" cy="164592"/>
          </a:xfrm>
          <a:prstGeom prst="rect">
            <a:avLst/>
          </a:prstGeom>
          <a:noFill/>
          <a:ln/>
        </p:spPr>
        <p:txBody>
          <a:bodyPr wrap="square" lIns="0" tIns="0" rIns="0" bIns="0" rtlCol="0" anchor="ctr">
            <a:normAutofit/>
          </a:bodyPr>
          <a:lstStyle/>
          <a:p>
            <a:pPr algn="ctr" indent="0" marL="0">
              <a:buNone/>
            </a:pPr>
            <a:r>
              <a:rPr lang="en-US" sz="770" dirty="0">
                <a:solidFill>
                  <a:srgbClr val="FFFFFF"/>
                </a:solidFill>
              </a:rPr>
              <a:t>doğal dil</a:t>
            </a:r>
            <a:endParaRPr lang="en-US" sz="770" dirty="0"/>
          </a:p>
        </p:txBody>
      </p:sp>
      <p:sp>
        <p:nvSpPr>
          <p:cNvPr id="28" name="Shape 25"/>
          <p:cNvSpPr/>
          <p:nvPr/>
        </p:nvSpPr>
        <p:spPr>
          <a:xfrm>
            <a:off x="868680" y="2606040"/>
            <a:ext cx="3246120" cy="1188720"/>
          </a:xfrm>
          <a:prstGeom prst="roundRect">
            <a:avLst>
              <a:gd name="adj" fmla="val 7692"/>
            </a:avLst>
          </a:prstGeom>
          <a:solidFill>
            <a:srgbClr val="F4F7FA"/>
          </a:solidFill>
          <a:ln w="12700">
            <a:solidFill>
              <a:srgbClr val="D5DCE3">
                <a:alpha val="85000"/>
              </a:srgbClr>
            </a:solidFill>
            <a:prstDash val="solid"/>
          </a:ln>
        </p:spPr>
      </p:sp>
      <p:sp>
        <p:nvSpPr>
          <p:cNvPr id="29" name="Shape 26"/>
          <p:cNvSpPr/>
          <p:nvPr/>
        </p:nvSpPr>
        <p:spPr>
          <a:xfrm>
            <a:off x="1033272" y="2770632"/>
            <a:ext cx="310896" cy="310896"/>
          </a:xfrm>
          <a:prstGeom prst="ellipse">
            <a:avLst/>
          </a:prstGeom>
          <a:solidFill>
            <a:srgbClr val="0C3046"/>
          </a:solidFill>
          <a:ln w="12700">
            <a:solidFill>
              <a:srgbClr val="0C3046"/>
            </a:solidFill>
            <a:prstDash val="solid"/>
          </a:ln>
        </p:spPr>
      </p:sp>
      <p:sp>
        <p:nvSpPr>
          <p:cNvPr id="30" name="Text 27"/>
          <p:cNvSpPr/>
          <p:nvPr/>
        </p:nvSpPr>
        <p:spPr>
          <a:xfrm>
            <a:off x="1033272" y="2830068"/>
            <a:ext cx="310896" cy="109728"/>
          </a:xfrm>
          <a:prstGeom prst="rect">
            <a:avLst/>
          </a:prstGeom>
          <a:noFill/>
          <a:ln/>
        </p:spPr>
        <p:txBody>
          <a:bodyPr wrap="square" lIns="0" tIns="0" rIns="0" bIns="0" rtlCol="0" anchor="ctr"/>
          <a:lstStyle/>
          <a:p>
            <a:pPr algn="ctr" indent="0" marL="0">
              <a:buNone/>
            </a:pPr>
            <a:r>
              <a:rPr lang="en-US" sz="1100" b="1" dirty="0">
                <a:solidFill>
                  <a:srgbClr val="FFFFFF"/>
                </a:solidFill>
              </a:rPr>
              <a:t>1</a:t>
            </a:r>
            <a:endParaRPr lang="en-US" sz="1100" dirty="0"/>
          </a:p>
        </p:txBody>
      </p:sp>
      <p:sp>
        <p:nvSpPr>
          <p:cNvPr id="31" name="Text 28"/>
          <p:cNvSpPr/>
          <p:nvPr/>
        </p:nvSpPr>
        <p:spPr>
          <a:xfrm>
            <a:off x="1444752" y="2779776"/>
            <a:ext cx="2487168" cy="228600"/>
          </a:xfrm>
          <a:prstGeom prst="rect">
            <a:avLst/>
          </a:prstGeom>
          <a:noFill/>
          <a:ln/>
        </p:spPr>
        <p:txBody>
          <a:bodyPr wrap="square" lIns="0" tIns="0" rIns="0" bIns="0" rtlCol="0" anchor="ctr">
            <a:normAutofit/>
          </a:bodyPr>
          <a:lstStyle/>
          <a:p>
            <a:pPr indent="0" marL="0">
              <a:buNone/>
            </a:pPr>
            <a:r>
              <a:rPr lang="en-US" sz="1450" b="1" dirty="0">
                <a:solidFill>
                  <a:srgbClr val="0C3046"/>
                </a:solidFill>
              </a:rPr>
              <a:t>LLM Finansal Karar Vermez</a:t>
            </a:r>
            <a:endParaRPr lang="en-US" sz="1450" dirty="0"/>
          </a:p>
        </p:txBody>
      </p:sp>
      <p:sp>
        <p:nvSpPr>
          <p:cNvPr id="32" name="Text 29"/>
          <p:cNvSpPr/>
          <p:nvPr/>
        </p:nvSpPr>
        <p:spPr>
          <a:xfrm>
            <a:off x="1097280" y="3136392"/>
            <a:ext cx="2788920" cy="548640"/>
          </a:xfrm>
          <a:prstGeom prst="rect">
            <a:avLst/>
          </a:prstGeom>
          <a:noFill/>
          <a:ln/>
        </p:spPr>
        <p:txBody>
          <a:bodyPr wrap="square" lIns="254" tIns="254" rIns="254" bIns="254" rtlCol="0" anchor="t">
            <a:normAutofit/>
          </a:bodyPr>
          <a:lstStyle/>
          <a:p>
            <a:pPr indent="0" marL="0">
              <a:buNone/>
            </a:pPr>
            <a:r>
              <a:rPr lang="en-US" sz="1050" dirty="0">
                <a:solidFill>
                  <a:srgbClr val="17212B"/>
                </a:solidFill>
              </a:rPr>
              <a:t>Filtreleme, hesaplama ve karşılaştırma deterministik araçlarda yapılır.</a:t>
            </a:r>
            <a:endParaRPr lang="en-US" sz="1050" dirty="0"/>
          </a:p>
        </p:txBody>
      </p:sp>
      <p:sp>
        <p:nvSpPr>
          <p:cNvPr id="33" name="Shape 30"/>
          <p:cNvSpPr/>
          <p:nvPr/>
        </p:nvSpPr>
        <p:spPr>
          <a:xfrm>
            <a:off x="4480560" y="2606040"/>
            <a:ext cx="3246120" cy="1188720"/>
          </a:xfrm>
          <a:prstGeom prst="roundRect">
            <a:avLst>
              <a:gd name="adj" fmla="val 7692"/>
            </a:avLst>
          </a:prstGeom>
          <a:solidFill>
            <a:srgbClr val="F6F4ED"/>
          </a:solidFill>
          <a:ln w="12700">
            <a:solidFill>
              <a:srgbClr val="D5DCE3">
                <a:alpha val="85000"/>
              </a:srgbClr>
            </a:solidFill>
            <a:prstDash val="solid"/>
          </a:ln>
        </p:spPr>
      </p:sp>
      <p:sp>
        <p:nvSpPr>
          <p:cNvPr id="34" name="Shape 31"/>
          <p:cNvSpPr/>
          <p:nvPr/>
        </p:nvSpPr>
        <p:spPr>
          <a:xfrm>
            <a:off x="4645152" y="2770632"/>
            <a:ext cx="310896" cy="310896"/>
          </a:xfrm>
          <a:prstGeom prst="ellipse">
            <a:avLst/>
          </a:prstGeom>
          <a:solidFill>
            <a:srgbClr val="B47A1F"/>
          </a:solidFill>
          <a:ln w="12700">
            <a:solidFill>
              <a:srgbClr val="B47A1F"/>
            </a:solidFill>
            <a:prstDash val="solid"/>
          </a:ln>
        </p:spPr>
      </p:sp>
      <p:sp>
        <p:nvSpPr>
          <p:cNvPr id="35" name="Text 32"/>
          <p:cNvSpPr/>
          <p:nvPr/>
        </p:nvSpPr>
        <p:spPr>
          <a:xfrm>
            <a:off x="4645152" y="2830068"/>
            <a:ext cx="310896" cy="109728"/>
          </a:xfrm>
          <a:prstGeom prst="rect">
            <a:avLst/>
          </a:prstGeom>
          <a:noFill/>
          <a:ln/>
        </p:spPr>
        <p:txBody>
          <a:bodyPr wrap="square" lIns="0" tIns="0" rIns="0" bIns="0" rtlCol="0" anchor="ctr"/>
          <a:lstStyle/>
          <a:p>
            <a:pPr algn="ctr" indent="0" marL="0">
              <a:buNone/>
            </a:pPr>
            <a:r>
              <a:rPr lang="en-US" sz="1100" b="1" dirty="0">
                <a:solidFill>
                  <a:srgbClr val="FFFFFF"/>
                </a:solidFill>
              </a:rPr>
              <a:t>2</a:t>
            </a:r>
            <a:endParaRPr lang="en-US" sz="1100" dirty="0"/>
          </a:p>
        </p:txBody>
      </p:sp>
      <p:sp>
        <p:nvSpPr>
          <p:cNvPr id="36" name="Text 33"/>
          <p:cNvSpPr/>
          <p:nvPr/>
        </p:nvSpPr>
        <p:spPr>
          <a:xfrm>
            <a:off x="5056632" y="2779776"/>
            <a:ext cx="2487168" cy="228600"/>
          </a:xfrm>
          <a:prstGeom prst="rect">
            <a:avLst/>
          </a:prstGeom>
          <a:noFill/>
          <a:ln/>
        </p:spPr>
        <p:txBody>
          <a:bodyPr wrap="square" lIns="0" tIns="0" rIns="0" bIns="0" rtlCol="0" anchor="ctr">
            <a:normAutofit/>
          </a:bodyPr>
          <a:lstStyle/>
          <a:p>
            <a:pPr indent="0" marL="0">
              <a:buNone/>
            </a:pPr>
            <a:r>
              <a:rPr lang="en-US" sz="1450" b="1" dirty="0">
                <a:solidFill>
                  <a:srgbClr val="0C3046"/>
                </a:solidFill>
              </a:rPr>
              <a:t>Eksik Veri Uydurulmaz</a:t>
            </a:r>
            <a:endParaRPr lang="en-US" sz="1450" dirty="0"/>
          </a:p>
        </p:txBody>
      </p:sp>
      <p:sp>
        <p:nvSpPr>
          <p:cNvPr id="37" name="Text 34"/>
          <p:cNvSpPr/>
          <p:nvPr/>
        </p:nvSpPr>
        <p:spPr>
          <a:xfrm>
            <a:off x="4709160" y="3136392"/>
            <a:ext cx="2788920" cy="548640"/>
          </a:xfrm>
          <a:prstGeom prst="rect">
            <a:avLst/>
          </a:prstGeom>
          <a:noFill/>
          <a:ln/>
        </p:spPr>
        <p:txBody>
          <a:bodyPr wrap="square" lIns="254" tIns="254" rIns="254" bIns="254" rtlCol="0" anchor="t">
            <a:normAutofit/>
          </a:bodyPr>
          <a:lstStyle/>
          <a:p>
            <a:pPr indent="0" marL="0">
              <a:buNone/>
            </a:pPr>
            <a:r>
              <a:rPr lang="en-US" sz="1050" dirty="0">
                <a:solidFill>
                  <a:srgbClr val="17212B"/>
                </a:solidFill>
              </a:rPr>
              <a:t>Kaynakta olmayan bilgi “belirtilmemiş” olarak gösterilir.</a:t>
            </a:r>
            <a:endParaRPr lang="en-US" sz="1050" dirty="0"/>
          </a:p>
        </p:txBody>
      </p:sp>
      <p:sp>
        <p:nvSpPr>
          <p:cNvPr id="38" name="Shape 35"/>
          <p:cNvSpPr/>
          <p:nvPr/>
        </p:nvSpPr>
        <p:spPr>
          <a:xfrm>
            <a:off x="8092440" y="2606040"/>
            <a:ext cx="3246120" cy="1188720"/>
          </a:xfrm>
          <a:prstGeom prst="roundRect">
            <a:avLst>
              <a:gd name="adj" fmla="val 7692"/>
            </a:avLst>
          </a:prstGeom>
          <a:solidFill>
            <a:srgbClr val="F4F7FA"/>
          </a:solidFill>
          <a:ln w="12700">
            <a:solidFill>
              <a:srgbClr val="D5DCE3">
                <a:alpha val="85000"/>
              </a:srgbClr>
            </a:solidFill>
            <a:prstDash val="solid"/>
          </a:ln>
        </p:spPr>
      </p:sp>
      <p:sp>
        <p:nvSpPr>
          <p:cNvPr id="39" name="Shape 36"/>
          <p:cNvSpPr/>
          <p:nvPr/>
        </p:nvSpPr>
        <p:spPr>
          <a:xfrm>
            <a:off x="8257032" y="2770632"/>
            <a:ext cx="310896" cy="310896"/>
          </a:xfrm>
          <a:prstGeom prst="ellipse">
            <a:avLst/>
          </a:prstGeom>
          <a:solidFill>
            <a:srgbClr val="0C3046"/>
          </a:solidFill>
          <a:ln w="12700">
            <a:solidFill>
              <a:srgbClr val="0C3046"/>
            </a:solidFill>
            <a:prstDash val="solid"/>
          </a:ln>
        </p:spPr>
      </p:sp>
      <p:sp>
        <p:nvSpPr>
          <p:cNvPr id="40" name="Text 37"/>
          <p:cNvSpPr/>
          <p:nvPr/>
        </p:nvSpPr>
        <p:spPr>
          <a:xfrm>
            <a:off x="8257032" y="2830068"/>
            <a:ext cx="310896" cy="109728"/>
          </a:xfrm>
          <a:prstGeom prst="rect">
            <a:avLst/>
          </a:prstGeom>
          <a:noFill/>
          <a:ln/>
        </p:spPr>
        <p:txBody>
          <a:bodyPr wrap="square" lIns="0" tIns="0" rIns="0" bIns="0" rtlCol="0" anchor="ctr"/>
          <a:lstStyle/>
          <a:p>
            <a:pPr algn="ctr" indent="0" marL="0">
              <a:buNone/>
            </a:pPr>
            <a:r>
              <a:rPr lang="en-US" sz="1100" b="1" dirty="0">
                <a:solidFill>
                  <a:srgbClr val="FFFFFF"/>
                </a:solidFill>
              </a:rPr>
              <a:t>3</a:t>
            </a:r>
            <a:endParaRPr lang="en-US" sz="1100" dirty="0"/>
          </a:p>
        </p:txBody>
      </p:sp>
      <p:sp>
        <p:nvSpPr>
          <p:cNvPr id="41" name="Text 38"/>
          <p:cNvSpPr/>
          <p:nvPr/>
        </p:nvSpPr>
        <p:spPr>
          <a:xfrm>
            <a:off x="8668512" y="2779776"/>
            <a:ext cx="2487168" cy="228600"/>
          </a:xfrm>
          <a:prstGeom prst="rect">
            <a:avLst/>
          </a:prstGeom>
          <a:noFill/>
          <a:ln/>
        </p:spPr>
        <p:txBody>
          <a:bodyPr wrap="square" lIns="0" tIns="0" rIns="0" bIns="0" rtlCol="0" anchor="ctr">
            <a:normAutofit/>
          </a:bodyPr>
          <a:lstStyle/>
          <a:p>
            <a:pPr indent="0" marL="0">
              <a:buNone/>
            </a:pPr>
            <a:r>
              <a:rPr lang="en-US" sz="1450" b="1" dirty="0">
                <a:solidFill>
                  <a:srgbClr val="0C3046"/>
                </a:solidFill>
              </a:rPr>
              <a:t>Kaynak İzlenebilirliği</a:t>
            </a:r>
            <a:endParaRPr lang="en-US" sz="1450" dirty="0"/>
          </a:p>
        </p:txBody>
      </p:sp>
      <p:sp>
        <p:nvSpPr>
          <p:cNvPr id="42" name="Text 39"/>
          <p:cNvSpPr/>
          <p:nvPr/>
        </p:nvSpPr>
        <p:spPr>
          <a:xfrm>
            <a:off x="8321040" y="3136392"/>
            <a:ext cx="2788920" cy="548640"/>
          </a:xfrm>
          <a:prstGeom prst="rect">
            <a:avLst/>
          </a:prstGeom>
          <a:noFill/>
          <a:ln/>
        </p:spPr>
        <p:txBody>
          <a:bodyPr wrap="square" lIns="254" tIns="254" rIns="254" bIns="254" rtlCol="0" anchor="t">
            <a:normAutofit/>
          </a:bodyPr>
          <a:lstStyle/>
          <a:p>
            <a:pPr indent="0" marL="0">
              <a:buNone/>
            </a:pPr>
            <a:r>
              <a:rPr lang="en-US" sz="1050" dirty="0">
                <a:solidFill>
                  <a:srgbClr val="17212B"/>
                </a:solidFill>
              </a:rPr>
              <a:t>Finansal yanıtın dayandığı resmî banka kaynağı kullanıcıya sunulur.</a:t>
            </a:r>
            <a:endParaRPr lang="en-US" sz="1050" dirty="0"/>
          </a:p>
        </p:txBody>
      </p:sp>
      <p:sp>
        <p:nvSpPr>
          <p:cNvPr id="43" name="Shape 40"/>
          <p:cNvSpPr/>
          <p:nvPr/>
        </p:nvSpPr>
        <p:spPr>
          <a:xfrm>
            <a:off x="1024128" y="4434840"/>
            <a:ext cx="10104120" cy="658368"/>
          </a:xfrm>
          <a:prstGeom prst="roundRect">
            <a:avLst>
              <a:gd name="adj" fmla="val 11111"/>
            </a:avLst>
          </a:prstGeom>
          <a:solidFill>
            <a:srgbClr val="0C3046"/>
          </a:solidFill>
          <a:ln w="12700">
            <a:solidFill>
              <a:srgbClr val="0C3046"/>
            </a:solidFill>
            <a:prstDash val="solid"/>
          </a:ln>
        </p:spPr>
      </p:sp>
      <p:sp>
        <p:nvSpPr>
          <p:cNvPr id="44" name="Text 41"/>
          <p:cNvSpPr/>
          <p:nvPr/>
        </p:nvSpPr>
        <p:spPr>
          <a:xfrm>
            <a:off x="1207008" y="4654296"/>
            <a:ext cx="9738360" cy="164592"/>
          </a:xfrm>
          <a:prstGeom prst="rect">
            <a:avLst/>
          </a:prstGeom>
          <a:noFill/>
          <a:ln/>
        </p:spPr>
        <p:txBody>
          <a:bodyPr wrap="square" lIns="0" tIns="0" rIns="0" bIns="0" rtlCol="0" anchor="ctr">
            <a:normAutofit/>
          </a:bodyPr>
          <a:lstStyle/>
          <a:p>
            <a:pPr algn="ctr" indent="0" marL="0">
              <a:buNone/>
            </a:pPr>
            <a:r>
              <a:rPr lang="en-US" sz="1250" b="1" dirty="0">
                <a:solidFill>
                  <a:srgbClr val="FFFFFF"/>
                </a:solidFill>
              </a:rPr>
              <a:t>Örnek kullanıcı sorusu:  “Kuveyt Türk ile Ziraat Katılım araç finansmanlarını karşılaştır.”</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mnt/data/template_media/image2.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658368" y="512064"/>
            <a:ext cx="10881360" cy="347472"/>
          </a:xfrm>
          <a:prstGeom prst="rect">
            <a:avLst/>
          </a:prstGeom>
          <a:noFill/>
          <a:ln/>
        </p:spPr>
        <p:txBody>
          <a:bodyPr wrap="square" lIns="0" tIns="0" rIns="0" bIns="0" rtlCol="0" anchor="ctr"/>
          <a:lstStyle/>
          <a:p>
            <a:pPr indent="0" marL="0">
              <a:buNone/>
            </a:pPr>
            <a:r>
              <a:rPr lang="en-US" sz="2600" b="1" dirty="0">
                <a:solidFill>
                  <a:srgbClr val="0C3046"/>
                </a:solidFill>
                <a:latin typeface="Arial" pitchFamily="34" charset="0"/>
                <a:ea typeface="Arial" pitchFamily="34" charset="-122"/>
                <a:cs typeface="Arial" pitchFamily="34" charset="-120"/>
              </a:rPr>
              <a:t>Özgün Yanlarımız</a:t>
            </a:r>
            <a:endParaRPr lang="en-US" sz="2600" dirty="0"/>
          </a:p>
        </p:txBody>
      </p:sp>
      <p:sp>
        <p:nvSpPr>
          <p:cNvPr id="4" name="Text 1"/>
          <p:cNvSpPr/>
          <p:nvPr/>
        </p:nvSpPr>
        <p:spPr>
          <a:xfrm>
            <a:off x="676656" y="914400"/>
            <a:ext cx="10515600" cy="256032"/>
          </a:xfrm>
          <a:prstGeom prst="rect">
            <a:avLst/>
          </a:prstGeom>
          <a:noFill/>
          <a:ln/>
        </p:spPr>
        <p:txBody>
          <a:bodyPr wrap="square" lIns="0" tIns="0" rIns="0" bIns="0" rtlCol="0" anchor="ctr"/>
          <a:lstStyle/>
          <a:p>
            <a:pPr indent="0" marL="0">
              <a:buNone/>
            </a:pPr>
            <a:r>
              <a:rPr lang="en-US" sz="1250" dirty="0">
                <a:solidFill>
                  <a:srgbClr val="53606B"/>
                </a:solidFill>
                <a:latin typeface="Arial" pitchFamily="34" charset="0"/>
                <a:ea typeface="Arial" pitchFamily="34" charset="-122"/>
                <a:cs typeface="Arial" pitchFamily="34" charset="-120"/>
              </a:rPr>
              <a:t>Program sentezi, deterministik araçlar ve kaynaklı yanıt tek mimaride birleşir</a:t>
            </a:r>
            <a:endParaRPr lang="en-US" sz="1250" dirty="0"/>
          </a:p>
        </p:txBody>
      </p:sp>
      <p:sp>
        <p:nvSpPr>
          <p:cNvPr id="5" name="Shape 2"/>
          <p:cNvSpPr/>
          <p:nvPr/>
        </p:nvSpPr>
        <p:spPr>
          <a:xfrm>
            <a:off x="841248" y="1261872"/>
            <a:ext cx="4983480" cy="1335024"/>
          </a:xfrm>
          <a:prstGeom prst="roundRect">
            <a:avLst>
              <a:gd name="adj" fmla="val 6849"/>
            </a:avLst>
          </a:prstGeom>
          <a:solidFill>
            <a:srgbClr val="F6F4ED"/>
          </a:solidFill>
          <a:ln w="12700">
            <a:solidFill>
              <a:srgbClr val="D5DCE3">
                <a:alpha val="85000"/>
              </a:srgbClr>
            </a:solidFill>
            <a:prstDash val="solid"/>
          </a:ln>
        </p:spPr>
      </p:sp>
      <p:sp>
        <p:nvSpPr>
          <p:cNvPr id="6" name="Shape 3"/>
          <p:cNvSpPr/>
          <p:nvPr/>
        </p:nvSpPr>
        <p:spPr>
          <a:xfrm>
            <a:off x="1005840" y="1426464"/>
            <a:ext cx="310896" cy="310896"/>
          </a:xfrm>
          <a:prstGeom prst="ellipse">
            <a:avLst/>
          </a:prstGeom>
          <a:solidFill>
            <a:srgbClr val="B47A1F"/>
          </a:solidFill>
          <a:ln w="12700">
            <a:solidFill>
              <a:srgbClr val="B47A1F"/>
            </a:solidFill>
            <a:prstDash val="solid"/>
          </a:ln>
        </p:spPr>
      </p:sp>
      <p:sp>
        <p:nvSpPr>
          <p:cNvPr id="7" name="Text 4"/>
          <p:cNvSpPr/>
          <p:nvPr/>
        </p:nvSpPr>
        <p:spPr>
          <a:xfrm>
            <a:off x="1005840" y="1485900"/>
            <a:ext cx="310896" cy="109728"/>
          </a:xfrm>
          <a:prstGeom prst="rect">
            <a:avLst/>
          </a:prstGeom>
          <a:noFill/>
          <a:ln/>
        </p:spPr>
        <p:txBody>
          <a:bodyPr wrap="square" lIns="0" tIns="0" rIns="0" bIns="0" rtlCol="0" anchor="ctr"/>
          <a:lstStyle/>
          <a:p>
            <a:pPr algn="ctr" indent="0" marL="0">
              <a:buNone/>
            </a:pPr>
            <a:r>
              <a:rPr lang="en-US" sz="1100" b="1" dirty="0">
                <a:solidFill>
                  <a:srgbClr val="FFFFFF"/>
                </a:solidFill>
              </a:rPr>
              <a:t>A</a:t>
            </a:r>
            <a:endParaRPr lang="en-US" sz="1100" dirty="0"/>
          </a:p>
        </p:txBody>
      </p:sp>
      <p:sp>
        <p:nvSpPr>
          <p:cNvPr id="8" name="Text 5"/>
          <p:cNvSpPr/>
          <p:nvPr/>
        </p:nvSpPr>
        <p:spPr>
          <a:xfrm>
            <a:off x="1417320" y="1435608"/>
            <a:ext cx="4224528" cy="228600"/>
          </a:xfrm>
          <a:prstGeom prst="rect">
            <a:avLst/>
          </a:prstGeom>
          <a:noFill/>
          <a:ln/>
        </p:spPr>
        <p:txBody>
          <a:bodyPr wrap="square" lIns="0" tIns="0" rIns="0" bIns="0" rtlCol="0" anchor="ctr">
            <a:normAutofit/>
          </a:bodyPr>
          <a:lstStyle/>
          <a:p>
            <a:pPr indent="0" marL="0">
              <a:buNone/>
            </a:pPr>
            <a:r>
              <a:rPr lang="en-US" sz="1450" b="1" dirty="0">
                <a:solidFill>
                  <a:srgbClr val="0C3046"/>
                </a:solidFill>
              </a:rPr>
              <a:t>Program Sentezi Tabanlı Extraction</a:t>
            </a:r>
            <a:endParaRPr lang="en-US" sz="1450" dirty="0"/>
          </a:p>
        </p:txBody>
      </p:sp>
      <p:sp>
        <p:nvSpPr>
          <p:cNvPr id="9" name="Text 6"/>
          <p:cNvSpPr/>
          <p:nvPr/>
        </p:nvSpPr>
        <p:spPr>
          <a:xfrm>
            <a:off x="1069848" y="1792224"/>
            <a:ext cx="4526280" cy="694944"/>
          </a:xfrm>
          <a:prstGeom prst="rect">
            <a:avLst/>
          </a:prstGeom>
          <a:noFill/>
          <a:ln/>
        </p:spPr>
        <p:txBody>
          <a:bodyPr wrap="square" lIns="254" tIns="254" rIns="254" bIns="254" rtlCol="0" anchor="t">
            <a:normAutofit/>
          </a:bodyPr>
          <a:lstStyle/>
          <a:p>
            <a:pPr indent="0" marL="0">
              <a:buNone/>
            </a:pPr>
            <a:r>
              <a:rPr lang="en-US" sz="1050" dirty="0">
                <a:solidFill>
                  <a:srgbClr val="17212B"/>
                </a:solidFill>
              </a:rPr>
              <a:t>Model doğrudan değer tahmin etmez. Serbest finansal metne özel Python + Regex çıkarım kodu üretir.</a:t>
            </a:r>
            <a:endParaRPr lang="en-US" sz="1050" dirty="0"/>
          </a:p>
          <a:p>
            <a:pPr indent="0" marL="0">
              <a:buNone/>
            </a:pPr>
            <a:endParaRPr lang="en-US" sz="1050" dirty="0"/>
          </a:p>
          <a:p>
            <a:pPr indent="0" marL="0">
              <a:buNone/>
            </a:pPr>
            <a:r>
              <a:rPr lang="en-US" sz="1050" dirty="0">
                <a:solidFill>
                  <a:srgbClr val="17212B"/>
                </a:solidFill>
              </a:rPr>
              <a:t>LLM → Değer değil, program üretir.</a:t>
            </a:r>
            <a:endParaRPr lang="en-US" sz="1050" dirty="0"/>
          </a:p>
        </p:txBody>
      </p:sp>
      <p:sp>
        <p:nvSpPr>
          <p:cNvPr id="10" name="Shape 7"/>
          <p:cNvSpPr/>
          <p:nvPr/>
        </p:nvSpPr>
        <p:spPr>
          <a:xfrm>
            <a:off x="6236208" y="1261872"/>
            <a:ext cx="4983480" cy="1335024"/>
          </a:xfrm>
          <a:prstGeom prst="roundRect">
            <a:avLst>
              <a:gd name="adj" fmla="val 6849"/>
            </a:avLst>
          </a:prstGeom>
          <a:solidFill>
            <a:srgbClr val="F4F7FA"/>
          </a:solidFill>
          <a:ln w="12700">
            <a:solidFill>
              <a:srgbClr val="D5DCE3">
                <a:alpha val="85000"/>
              </a:srgbClr>
            </a:solidFill>
            <a:prstDash val="solid"/>
          </a:ln>
        </p:spPr>
      </p:sp>
      <p:sp>
        <p:nvSpPr>
          <p:cNvPr id="11" name="Shape 8"/>
          <p:cNvSpPr/>
          <p:nvPr/>
        </p:nvSpPr>
        <p:spPr>
          <a:xfrm>
            <a:off x="6400800" y="1426464"/>
            <a:ext cx="310896" cy="310896"/>
          </a:xfrm>
          <a:prstGeom prst="ellipse">
            <a:avLst/>
          </a:prstGeom>
          <a:solidFill>
            <a:srgbClr val="0C3046"/>
          </a:solidFill>
          <a:ln w="12700">
            <a:solidFill>
              <a:srgbClr val="0C3046"/>
            </a:solidFill>
            <a:prstDash val="solid"/>
          </a:ln>
        </p:spPr>
      </p:sp>
      <p:sp>
        <p:nvSpPr>
          <p:cNvPr id="12" name="Text 9"/>
          <p:cNvSpPr/>
          <p:nvPr/>
        </p:nvSpPr>
        <p:spPr>
          <a:xfrm>
            <a:off x="6400800" y="1485900"/>
            <a:ext cx="310896" cy="109728"/>
          </a:xfrm>
          <a:prstGeom prst="rect">
            <a:avLst/>
          </a:prstGeom>
          <a:noFill/>
          <a:ln/>
        </p:spPr>
        <p:txBody>
          <a:bodyPr wrap="square" lIns="0" tIns="0" rIns="0" bIns="0" rtlCol="0" anchor="ctr"/>
          <a:lstStyle/>
          <a:p>
            <a:pPr algn="ctr" indent="0" marL="0">
              <a:buNone/>
            </a:pPr>
            <a:r>
              <a:rPr lang="en-US" sz="1100" b="1" dirty="0">
                <a:solidFill>
                  <a:srgbClr val="FFFFFF"/>
                </a:solidFill>
              </a:rPr>
              <a:t>B</a:t>
            </a:r>
            <a:endParaRPr lang="en-US" sz="1100" dirty="0"/>
          </a:p>
        </p:txBody>
      </p:sp>
      <p:sp>
        <p:nvSpPr>
          <p:cNvPr id="13" name="Text 10"/>
          <p:cNvSpPr/>
          <p:nvPr/>
        </p:nvSpPr>
        <p:spPr>
          <a:xfrm>
            <a:off x="6812280" y="1435608"/>
            <a:ext cx="4224528" cy="228600"/>
          </a:xfrm>
          <a:prstGeom prst="rect">
            <a:avLst/>
          </a:prstGeom>
          <a:noFill/>
          <a:ln/>
        </p:spPr>
        <p:txBody>
          <a:bodyPr wrap="square" lIns="0" tIns="0" rIns="0" bIns="0" rtlCol="0" anchor="ctr">
            <a:normAutofit/>
          </a:bodyPr>
          <a:lstStyle/>
          <a:p>
            <a:pPr indent="0" marL="0">
              <a:buNone/>
            </a:pPr>
            <a:r>
              <a:rPr lang="en-US" sz="1450" b="1" dirty="0">
                <a:solidFill>
                  <a:srgbClr val="0C3046"/>
                </a:solidFill>
              </a:rPr>
              <a:t>Deterministik Finansal Karar</a:t>
            </a:r>
            <a:endParaRPr lang="en-US" sz="1450" dirty="0"/>
          </a:p>
        </p:txBody>
      </p:sp>
      <p:sp>
        <p:nvSpPr>
          <p:cNvPr id="14" name="Text 11"/>
          <p:cNvSpPr/>
          <p:nvPr/>
        </p:nvSpPr>
        <p:spPr>
          <a:xfrm>
            <a:off x="6464808" y="1792224"/>
            <a:ext cx="4526280" cy="694944"/>
          </a:xfrm>
          <a:prstGeom prst="rect">
            <a:avLst/>
          </a:prstGeom>
          <a:noFill/>
          <a:ln/>
        </p:spPr>
        <p:txBody>
          <a:bodyPr wrap="square" lIns="254" tIns="254" rIns="254" bIns="254" rtlCol="0" anchor="t">
            <a:normAutofit/>
          </a:bodyPr>
          <a:lstStyle/>
          <a:p>
            <a:pPr indent="0" marL="0">
              <a:buNone/>
            </a:pPr>
            <a:r>
              <a:rPr lang="en-US" sz="1050" dirty="0">
                <a:solidFill>
                  <a:srgbClr val="17212B"/>
                </a:solidFill>
              </a:rPr>
              <a:t>Karşılaştırmayı LLM yapmaz. Finansman ve kampanya karşılaştırmaları sabit kurallı araçlarla yapılır.</a:t>
            </a:r>
            <a:endParaRPr lang="en-US" sz="1050" dirty="0"/>
          </a:p>
          <a:p>
            <a:pPr indent="0" marL="0">
              <a:buNone/>
            </a:pPr>
            <a:endParaRPr lang="en-US" sz="1050" dirty="0"/>
          </a:p>
          <a:p>
            <a:pPr indent="0" marL="0">
              <a:buNone/>
            </a:pPr>
            <a:r>
              <a:rPr lang="en-US" sz="1050" dirty="0">
                <a:solidFill>
                  <a:srgbClr val="17212B"/>
                </a:solidFill>
              </a:rPr>
              <a:t>Aynı veri + aynı kriter = aynı sonuç.</a:t>
            </a:r>
            <a:endParaRPr lang="en-US" sz="1050" dirty="0"/>
          </a:p>
        </p:txBody>
      </p:sp>
      <p:sp>
        <p:nvSpPr>
          <p:cNvPr id="15" name="Shape 12"/>
          <p:cNvSpPr/>
          <p:nvPr/>
        </p:nvSpPr>
        <p:spPr>
          <a:xfrm>
            <a:off x="841248" y="2880360"/>
            <a:ext cx="4983480" cy="1335024"/>
          </a:xfrm>
          <a:prstGeom prst="roundRect">
            <a:avLst>
              <a:gd name="adj" fmla="val 6849"/>
            </a:avLst>
          </a:prstGeom>
          <a:solidFill>
            <a:srgbClr val="F4F7FA"/>
          </a:solidFill>
          <a:ln w="12700">
            <a:solidFill>
              <a:srgbClr val="D5DCE3">
                <a:alpha val="85000"/>
              </a:srgbClr>
            </a:solidFill>
            <a:prstDash val="solid"/>
          </a:ln>
        </p:spPr>
      </p:sp>
      <p:sp>
        <p:nvSpPr>
          <p:cNvPr id="16" name="Shape 13"/>
          <p:cNvSpPr/>
          <p:nvPr/>
        </p:nvSpPr>
        <p:spPr>
          <a:xfrm>
            <a:off x="1005840" y="3044952"/>
            <a:ext cx="310896" cy="310896"/>
          </a:xfrm>
          <a:prstGeom prst="ellipse">
            <a:avLst/>
          </a:prstGeom>
          <a:solidFill>
            <a:srgbClr val="0C3046"/>
          </a:solidFill>
          <a:ln w="12700">
            <a:solidFill>
              <a:srgbClr val="0C3046"/>
            </a:solidFill>
            <a:prstDash val="solid"/>
          </a:ln>
        </p:spPr>
      </p:sp>
      <p:sp>
        <p:nvSpPr>
          <p:cNvPr id="17" name="Text 14"/>
          <p:cNvSpPr/>
          <p:nvPr/>
        </p:nvSpPr>
        <p:spPr>
          <a:xfrm>
            <a:off x="1005840" y="3104388"/>
            <a:ext cx="310896" cy="109728"/>
          </a:xfrm>
          <a:prstGeom prst="rect">
            <a:avLst/>
          </a:prstGeom>
          <a:noFill/>
          <a:ln/>
        </p:spPr>
        <p:txBody>
          <a:bodyPr wrap="square" lIns="0" tIns="0" rIns="0" bIns="0" rtlCol="0" anchor="ctr"/>
          <a:lstStyle/>
          <a:p>
            <a:pPr algn="ctr" indent="0" marL="0">
              <a:buNone/>
            </a:pPr>
            <a:r>
              <a:rPr lang="en-US" sz="1100" b="1" dirty="0">
                <a:solidFill>
                  <a:srgbClr val="FFFFFF"/>
                </a:solidFill>
              </a:rPr>
              <a:t>C</a:t>
            </a:r>
            <a:endParaRPr lang="en-US" sz="1100" dirty="0"/>
          </a:p>
        </p:txBody>
      </p:sp>
      <p:sp>
        <p:nvSpPr>
          <p:cNvPr id="18" name="Text 15"/>
          <p:cNvSpPr/>
          <p:nvPr/>
        </p:nvSpPr>
        <p:spPr>
          <a:xfrm>
            <a:off x="1417320" y="3054096"/>
            <a:ext cx="4224528" cy="228600"/>
          </a:xfrm>
          <a:prstGeom prst="rect">
            <a:avLst/>
          </a:prstGeom>
          <a:noFill/>
          <a:ln/>
        </p:spPr>
        <p:txBody>
          <a:bodyPr wrap="square" lIns="0" tIns="0" rIns="0" bIns="0" rtlCol="0" anchor="ctr">
            <a:normAutofit/>
          </a:bodyPr>
          <a:lstStyle/>
          <a:p>
            <a:pPr indent="0" marL="0">
              <a:buNone/>
            </a:pPr>
            <a:r>
              <a:rPr lang="en-US" sz="1450" b="1" dirty="0">
                <a:solidFill>
                  <a:srgbClr val="0C3046"/>
                </a:solidFill>
              </a:rPr>
              <a:t>Kaynak İzlenebilirliği</a:t>
            </a:r>
            <a:endParaRPr lang="en-US" sz="1450" dirty="0"/>
          </a:p>
        </p:txBody>
      </p:sp>
      <p:sp>
        <p:nvSpPr>
          <p:cNvPr id="19" name="Text 16"/>
          <p:cNvSpPr/>
          <p:nvPr/>
        </p:nvSpPr>
        <p:spPr>
          <a:xfrm>
            <a:off x="1069848" y="3410712"/>
            <a:ext cx="4526280" cy="694944"/>
          </a:xfrm>
          <a:prstGeom prst="rect">
            <a:avLst/>
          </a:prstGeom>
          <a:noFill/>
          <a:ln/>
        </p:spPr>
        <p:txBody>
          <a:bodyPr wrap="square" lIns="254" tIns="254" rIns="254" bIns="254" rtlCol="0" anchor="t">
            <a:normAutofit/>
          </a:bodyPr>
          <a:lstStyle/>
          <a:p>
            <a:pPr indent="0" marL="0">
              <a:buNone/>
            </a:pPr>
            <a:r>
              <a:rPr lang="en-US" sz="1050" dirty="0">
                <a:solidFill>
                  <a:srgbClr val="17212B"/>
                </a:solidFill>
              </a:rPr>
              <a:t>Her kayıt, orijinal banka sayfasının kaynak URL’si ve ham metniyle birlikte saklanır.</a:t>
            </a:r>
            <a:endParaRPr lang="en-US" sz="1050" dirty="0"/>
          </a:p>
          <a:p>
            <a:pPr indent="0" marL="0">
              <a:buNone/>
            </a:pPr>
            <a:endParaRPr lang="en-US" sz="1050" dirty="0"/>
          </a:p>
          <a:p>
            <a:pPr indent="0" marL="0">
              <a:buNone/>
            </a:pPr>
            <a:r>
              <a:rPr lang="en-US" sz="1050" dirty="0">
                <a:solidFill>
                  <a:srgbClr val="17212B"/>
                </a:solidFill>
              </a:rPr>
              <a:t>Sonuç → Kayıt → Kaynak.</a:t>
            </a:r>
            <a:endParaRPr lang="en-US" sz="1050" dirty="0"/>
          </a:p>
        </p:txBody>
      </p:sp>
      <p:sp>
        <p:nvSpPr>
          <p:cNvPr id="20" name="Shape 17"/>
          <p:cNvSpPr/>
          <p:nvPr/>
        </p:nvSpPr>
        <p:spPr>
          <a:xfrm>
            <a:off x="6236208" y="2880360"/>
            <a:ext cx="4983480" cy="1335024"/>
          </a:xfrm>
          <a:prstGeom prst="roundRect">
            <a:avLst>
              <a:gd name="adj" fmla="val 6849"/>
            </a:avLst>
          </a:prstGeom>
          <a:solidFill>
            <a:srgbClr val="F6F4ED"/>
          </a:solidFill>
          <a:ln w="12700">
            <a:solidFill>
              <a:srgbClr val="D5DCE3">
                <a:alpha val="85000"/>
              </a:srgbClr>
            </a:solidFill>
            <a:prstDash val="solid"/>
          </a:ln>
        </p:spPr>
      </p:sp>
      <p:sp>
        <p:nvSpPr>
          <p:cNvPr id="21" name="Shape 18"/>
          <p:cNvSpPr/>
          <p:nvPr/>
        </p:nvSpPr>
        <p:spPr>
          <a:xfrm>
            <a:off x="6400800" y="3044952"/>
            <a:ext cx="310896" cy="310896"/>
          </a:xfrm>
          <a:prstGeom prst="ellipse">
            <a:avLst/>
          </a:prstGeom>
          <a:solidFill>
            <a:srgbClr val="B47A1F"/>
          </a:solidFill>
          <a:ln w="12700">
            <a:solidFill>
              <a:srgbClr val="B47A1F"/>
            </a:solidFill>
            <a:prstDash val="solid"/>
          </a:ln>
        </p:spPr>
      </p:sp>
      <p:sp>
        <p:nvSpPr>
          <p:cNvPr id="22" name="Text 19"/>
          <p:cNvSpPr/>
          <p:nvPr/>
        </p:nvSpPr>
        <p:spPr>
          <a:xfrm>
            <a:off x="6400800" y="3104388"/>
            <a:ext cx="310896" cy="109728"/>
          </a:xfrm>
          <a:prstGeom prst="rect">
            <a:avLst/>
          </a:prstGeom>
          <a:noFill/>
          <a:ln/>
        </p:spPr>
        <p:txBody>
          <a:bodyPr wrap="square" lIns="0" tIns="0" rIns="0" bIns="0" rtlCol="0" anchor="ctr"/>
          <a:lstStyle/>
          <a:p>
            <a:pPr algn="ctr" indent="0" marL="0">
              <a:buNone/>
            </a:pPr>
            <a:r>
              <a:rPr lang="en-US" sz="1100" b="1" dirty="0">
                <a:solidFill>
                  <a:srgbClr val="FFFFFF"/>
                </a:solidFill>
              </a:rPr>
              <a:t>D</a:t>
            </a:r>
            <a:endParaRPr lang="en-US" sz="1100" dirty="0"/>
          </a:p>
        </p:txBody>
      </p:sp>
      <p:sp>
        <p:nvSpPr>
          <p:cNvPr id="23" name="Text 20"/>
          <p:cNvSpPr/>
          <p:nvPr/>
        </p:nvSpPr>
        <p:spPr>
          <a:xfrm>
            <a:off x="6812280" y="3054096"/>
            <a:ext cx="4224528" cy="228600"/>
          </a:xfrm>
          <a:prstGeom prst="rect">
            <a:avLst/>
          </a:prstGeom>
          <a:noFill/>
          <a:ln/>
        </p:spPr>
        <p:txBody>
          <a:bodyPr wrap="square" lIns="0" tIns="0" rIns="0" bIns="0" rtlCol="0" anchor="ctr">
            <a:normAutofit/>
          </a:bodyPr>
          <a:lstStyle/>
          <a:p>
            <a:pPr indent="0" marL="0">
              <a:buNone/>
            </a:pPr>
            <a:r>
              <a:rPr lang="en-US" sz="1450" b="1" dirty="0">
                <a:solidFill>
                  <a:srgbClr val="0C3046"/>
                </a:solidFill>
              </a:rPr>
              <a:t>Eksik Veri Güvenliği</a:t>
            </a:r>
            <a:endParaRPr lang="en-US" sz="1450" dirty="0"/>
          </a:p>
        </p:txBody>
      </p:sp>
      <p:sp>
        <p:nvSpPr>
          <p:cNvPr id="24" name="Text 21"/>
          <p:cNvSpPr/>
          <p:nvPr/>
        </p:nvSpPr>
        <p:spPr>
          <a:xfrm>
            <a:off x="6464808" y="3410712"/>
            <a:ext cx="4526280" cy="694944"/>
          </a:xfrm>
          <a:prstGeom prst="rect">
            <a:avLst/>
          </a:prstGeom>
          <a:noFill/>
          <a:ln/>
        </p:spPr>
        <p:txBody>
          <a:bodyPr wrap="square" lIns="254" tIns="254" rIns="254" bIns="254" rtlCol="0" anchor="t">
            <a:normAutofit/>
          </a:bodyPr>
          <a:lstStyle/>
          <a:p>
            <a:pPr indent="0" marL="0">
              <a:buNone/>
            </a:pPr>
            <a:r>
              <a:rPr lang="en-US" sz="1050" dirty="0">
                <a:solidFill>
                  <a:srgbClr val="17212B"/>
                </a:solidFill>
              </a:rPr>
              <a:t>Kaynak metinde bulunmayan finansal alanlar boş veya “belirtilmemiş” olarak gösterilir.</a:t>
            </a:r>
            <a:endParaRPr lang="en-US" sz="1050" dirty="0"/>
          </a:p>
          <a:p>
            <a:pPr indent="0" marL="0">
              <a:buNone/>
            </a:pPr>
            <a:endParaRPr lang="en-US" sz="1050" dirty="0"/>
          </a:p>
          <a:p>
            <a:pPr indent="0" marL="0">
              <a:buNone/>
            </a:pPr>
            <a:r>
              <a:rPr lang="en-US" sz="1050" dirty="0">
                <a:solidFill>
                  <a:srgbClr val="17212B"/>
                </a:solidFill>
              </a:rPr>
              <a:t>Eksik veri ≠ Tahmin.</a:t>
            </a:r>
            <a:endParaRPr lang="en-US" sz="1050" dirty="0"/>
          </a:p>
        </p:txBody>
      </p:sp>
      <p:sp>
        <p:nvSpPr>
          <p:cNvPr id="25" name="Shape 22"/>
          <p:cNvSpPr/>
          <p:nvPr/>
        </p:nvSpPr>
        <p:spPr>
          <a:xfrm>
            <a:off x="758952" y="5779008"/>
            <a:ext cx="10698480" cy="429768"/>
          </a:xfrm>
          <a:prstGeom prst="roundRect">
            <a:avLst>
              <a:gd name="adj" fmla="val 17021"/>
            </a:avLst>
          </a:prstGeom>
          <a:solidFill>
            <a:srgbClr val="FFF4DC"/>
          </a:solidFill>
          <a:ln w="12700">
            <a:solidFill>
              <a:srgbClr val="B47A1F">
                <a:alpha val="65000"/>
              </a:srgbClr>
            </a:solidFill>
            <a:prstDash val="solid"/>
          </a:ln>
        </p:spPr>
      </p:sp>
      <p:sp>
        <p:nvSpPr>
          <p:cNvPr id="26" name="Text 23"/>
          <p:cNvSpPr/>
          <p:nvPr/>
        </p:nvSpPr>
        <p:spPr>
          <a:xfrm>
            <a:off x="932688" y="5916168"/>
            <a:ext cx="10332720" cy="109728"/>
          </a:xfrm>
          <a:prstGeom prst="rect">
            <a:avLst/>
          </a:prstGeom>
          <a:noFill/>
          <a:ln/>
        </p:spPr>
        <p:txBody>
          <a:bodyPr wrap="square" lIns="0" tIns="0" rIns="0" bIns="0" rtlCol="0" anchor="ctr">
            <a:normAutofit/>
          </a:bodyPr>
          <a:lstStyle/>
          <a:p>
            <a:pPr algn="ctr" indent="0" marL="0">
              <a:buNone/>
            </a:pPr>
            <a:r>
              <a:rPr lang="en-US" sz="1250" b="1" i="1" dirty="0">
                <a:solidFill>
                  <a:srgbClr val="B47A1F"/>
                </a:solidFill>
              </a:rPr>
              <a:t>Yapay zekayı finansal karar vermek için değil; doğru bilgiyi çıkarmak, yönlendirmek ve açıklamak için kullanıyoruz.</a:t>
            </a:r>
            <a:endParaRPr lang="en-US" sz="1250" dirty="0"/>
          </a:p>
        </p:txBody>
      </p:sp>
      <p:sp>
        <p:nvSpPr>
          <p:cNvPr id="27" name="Text 24"/>
          <p:cNvSpPr/>
          <p:nvPr/>
        </p:nvSpPr>
        <p:spPr>
          <a:xfrm>
            <a:off x="2971800" y="5340096"/>
            <a:ext cx="6309360" cy="146304"/>
          </a:xfrm>
          <a:prstGeom prst="rect">
            <a:avLst/>
          </a:prstGeom>
          <a:noFill/>
          <a:ln/>
        </p:spPr>
        <p:txBody>
          <a:bodyPr wrap="square" lIns="0" tIns="0" rIns="0" bIns="0" rtlCol="0" anchor="ctr"/>
          <a:lstStyle/>
          <a:p>
            <a:pPr algn="ctr" indent="0" marL="0">
              <a:buNone/>
            </a:pPr>
            <a:r>
              <a:rPr lang="en-US" sz="1050" b="1" dirty="0">
                <a:solidFill>
                  <a:srgbClr val="0C3046"/>
                </a:solidFill>
              </a:rPr>
              <a:t>Program Sentezi + Deterministik Araçlar + Kaynaklı Yanıt</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HarputAI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Harput Finans Final Sunumu</dc:title>
  <dc:subject>Harput Finans 5 dakikalık final sunumu</dc:subject>
  <dc:creator>HarputAI</dc:creator>
  <cp:lastModifiedBy>HarputAI</cp:lastModifiedBy>
  <cp:revision>1</cp:revision>
  <dcterms:created xsi:type="dcterms:W3CDTF">2026-08-27T17:06:30Z</dcterms:created>
  <dcterms:modified xsi:type="dcterms:W3CDTF">2026-08-27T17:06:30Z</dcterms:modified>
</cp:coreProperties>
</file>